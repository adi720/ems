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3430e63-5690-a0d1-5ff5-505eaa9791fe}">
          <p14:sldIdLst>
            <p14:sldId id="256"/>
            <p14:sldId id="257"/>
            <p14:sldId id="258"/>
            <p14:sldId id="259"/>
          </p14:sldIdLst>
        </p14:section>
        <p14:section name="For callers" id="{2f3af5b7-5ca0-eaf6-7619-2d597cba899a}">
          <p14:sldIdLst>
            <p14:sldId id="260"/>
            <p14:sldId id="261"/>
            <p14:sldId id="262"/>
            <p14:sldId id="263"/>
          </p14:sldIdLst>
        </p14:section>
        <p14:section name="For coordinators" id="{4d39a10f-1e32-effc-5b1b-bb88c6e76a49}">
          <p14:sldIdLst>
            <p14:sldId id="264"/>
            <p14:sldId id="265"/>
            <p14:sldId id="266"/>
            <p14:sldId id="267"/>
            <p14:sldId id="268"/>
            <p14:sldId id="269"/>
          </p14:sldIdLst>
        </p14:section>
        <p14:section name="Getting started" id="{15aa40d9-fa72-4e73-e67e-6055a7d3cec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introduce EMS Seva, the app that replaces our Calling Seva spreadsheet. The picture on the right is what every caller will see on their phone. Everything shown uses made-up example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spreadsheet served us well, but it needs a lot of manual work and everyone sees everything. In the app each caller only sees their own Saints, results are one tap, and coordinators see progress as it happens. Nothing is lost: every change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kinds of login. Most of us are callers. Coordinators run the seva. One person, the system administrator, looks after the app itself. The Saints themselves never need to log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weekly routine. On Saturday morning a coordinator presses one button. That builds every caller's list from the Saints they look after. The coordinator shares a ready-made reminder on WhatsApp. Callers call and tap a result. Coordinators follow progress, and after Sunday the results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for callers.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link, log in, and you see your list. Pending calls are at the top. Tap Call, have the conversation, and tap the result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four choices. Will Try means the person isn't sure; we never count it as a Yes. Call Not Connected means you tried but didn't reach them. You can always call again and tap a new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habits that make it easier: put the app on your home screen, use call-back times, respect Do not call, and keep the numbers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for coordinators.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coordinator's home page. The main button at the top always shows the next thing to do. The cards show the key numbers, and the table shows how far each caller has got.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Saints are the people we call. Each has a status: someone who has moved away is marked Inactive, and anyone who asks not to be called is marked Do not call. The Team page is where coordinators add callers and reset passwords, without needing the technical admin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Saint is looked after by one caller for about three months, which builds a relationship. Coordinators can assign, move or swap lists. The app always shows a preview first, and keeps the full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 moves us off the spreadsheet in four steps. It checks every row for missing details, wrong numbers and duplicates, and can create each caller's login. Their passwords are shown once, for the coordinator to share privately.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reports show each congregation and each caller. The numbers are defined clearly and always add up. Will Try is never counted as Yes. Everything can be exported, and the audit log shows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going: the administrator sets the app up, a coordinator imports the workbook and creates the logins, each caller gets their login privately, and on Saturday we start.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383280"/>
            <a:ext cx="6766560" cy="1463040"/>
          </a:xfrm>
          <a:prstGeom prst="rect">
            <a:avLst/>
          </a:prstGeom>
          <a:noFill/>
          <a:ln/>
        </p:spPr>
        <p:txBody>
          <a:bodyPr wrap="square" rtlCol="0"/>
          <a:lstStyle>
            <a:lvl1pPr algn="l" indent="0" marL="0">
              <a:buNone/>
              <a:defRPr lang="en-US" sz="2200" dirty="0">
                <a:solidFill>
                  <a:schemeClr val="accent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657600"/>
            <a:ext cx="10698480" cy="822960"/>
          </a:xfrm>
          <a:prstGeom prst="rect">
            <a:avLst/>
          </a:prstGeom>
          <a:noFill/>
          <a:ln/>
        </p:spPr>
        <p:txBody>
          <a:bodyPr wrap="square" rtlCol="0"/>
          <a:lstStyle>
            <a:lvl1pPr algn="l" indent="0" marL="0">
              <a:buNone/>
              <a:defRPr lang="en-US" sz="2200" dirty="0">
                <a:solidFill>
                  <a:schemeClr val="accent2"/>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10058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chemeClr val="accent6"/>
                </a:solidFill>
              </a:rPr>
              <a:t>EMS Seva</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5.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lIns="0" tIns="0" rIns="0" bIns="0" rtlCol="0" anchor="b"/>
          <a:lstStyle/>
          <a:p>
            <a:pPr algn="l" indent="0" marL="0">
              <a:buNone/>
            </a:pPr>
            <a:r>
              <a:rPr lang="en-US" sz="6000" b="1" dirty="0">
                <a:solidFill>
                  <a:schemeClr val="bg1"/>
                </a:solidFill>
              </a:rPr>
              <a:t>EMS Seva</a:t>
            </a:r>
            <a:endParaRPr lang="en-US" sz="6000" dirty="0"/>
          </a:p>
        </p:txBody>
      </p:sp>
      <p:sp>
        <p:nvSpPr>
          <p:cNvPr id="3" name="Text 0"/>
          <p:cNvSpPr/>
          <p:nvPr>
            <p:ph idx="101" type="body" hasCustomPrompt="1"/>
          </p:nvPr>
        </p:nvSpPr>
        <p:spPr>
          <a:xfrm>
            <a:off x="731520" y="3383280"/>
            <a:ext cx="6766560" cy="1463040"/>
          </a:xfrm>
          <a:prstGeom prst="rect">
            <a:avLst/>
          </a:prstGeom>
          <a:noFill/>
          <a:ln/>
        </p:spPr>
        <p:txBody>
          <a:bodyPr wrap="square" lIns="0" tIns="0" rIns="0" bIns="0" rtlCol="0" anchor="t"/>
          <a:lstStyle/>
          <a:p>
            <a:pPr algn="l" indent="0" marL="0">
              <a:buNone/>
            </a:pPr>
            <a:r>
              <a:rPr lang="en-US" sz="2200" dirty="0">
                <a:solidFill>
                  <a:schemeClr val="accent2"/>
                </a:solidFill>
              </a:rPr>
              <a:t>Calling Seva, made simple: one place for our Saints, our callers and every Sunday's EMS Congregation</a:t>
            </a:r>
            <a:endParaRPr lang="en-US" sz="2200" dirty="0"/>
          </a:p>
        </p:txBody>
      </p:sp>
      <p:sp>
        <p:nvSpPr>
          <p:cNvPr id="4" name="phone screenshot frame"/>
          <p:cNvSpPr/>
          <p:nvPr/>
        </p:nvSpPr>
        <p:spPr>
          <a:xfrm>
            <a:off x="8842248" y="612648"/>
            <a:ext cx="2660904" cy="5586984"/>
          </a:xfrm>
          <a:prstGeom prst="roundRect">
            <a:avLst>
              <a:gd name="adj" fmla="val 2749"/>
            </a:avLst>
          </a:prstGeom>
          <a:solidFill>
            <a:schemeClr val="bg1"/>
          </a:solidFill>
          <a:ln w="9525">
            <a:solidFill>
              <a:srgbClr val="D5DBE3"/>
            </a:solidFill>
            <a:prstDash val="solid"/>
          </a:ln>
          <a:effectLst>
            <a:outerShdw sx="100000" sy="100000" kx="0" ky="0" algn="bl" rotWithShape="0" blurRad="127000" dist="38100" dir="5400000">
              <a:srgbClr val="0F172A">
                <a:alpha val="18000"/>
              </a:srgbClr>
            </a:outerShdw>
          </a:effectLst>
        </p:spPr>
      </p:sp>
      <p:pic>
        <p:nvPicPr>
          <p:cNvPr id="5" name="phone screenshot" descr="The My calls screen on a phone">    </p:cNvPr>
          <p:cNvPicPr>
            <a:picLocks noChangeAspect="1"/>
          </p:cNvPicPr>
          <p:nvPr/>
        </p:nvPicPr>
        <p:blipFill>
          <a:blip r:embed="rId1"/>
          <a:stretch>
            <a:fillRect/>
          </a:stretch>
        </p:blipFill>
        <p:spPr>
          <a:xfrm>
            <a:off x="8915400" y="685800"/>
            <a:ext cx="2514600" cy="5440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From spreadsheets to one simple app</a:t>
            </a:r>
            <a:endParaRPr lang="en-US" sz="3600" dirty="0"/>
          </a:p>
        </p:txBody>
      </p:sp>
      <p:sp>
        <p:nvSpPr>
          <p:cNvPr id="3" name="Until now: Excel card"/>
          <p:cNvSpPr/>
          <p:nvPr/>
        </p:nvSpPr>
        <p:spPr>
          <a:xfrm>
            <a:off x="548640" y="1417320"/>
            <a:ext cx="5394960" cy="3520440"/>
          </a:xfrm>
          <a:prstGeom prst="roundRect">
            <a:avLst>
              <a:gd name="adj" fmla="val 3117"/>
            </a:avLst>
          </a:prstGeom>
          <a:solidFill>
            <a:schemeClr val="bg2"/>
          </a:solidFill>
          <a:ln w="12700">
            <a:solidFill>
              <a:schemeClr val="bg2"/>
            </a:solidFill>
            <a:prstDash val="solid"/>
          </a:ln>
        </p:spPr>
      </p:sp>
      <p:sp>
        <p:nvSpPr>
          <p:cNvPr id="4" name="Until now: Excel circle"/>
          <p:cNvSpPr/>
          <p:nvPr/>
        </p:nvSpPr>
        <p:spPr>
          <a:xfrm>
            <a:off x="960120" y="1783080"/>
            <a:ext cx="731520" cy="731520"/>
          </a:xfrm>
          <a:prstGeom prst="ellipse">
            <a:avLst/>
          </a:prstGeom>
          <a:solidFill>
            <a:schemeClr val="accent6"/>
          </a:solidFill>
          <a:ln w="12700">
            <a:solidFill>
              <a:schemeClr val="accent6"/>
            </a:solidFill>
            <a:prstDash val="solid"/>
          </a:ln>
        </p:spPr>
      </p:sp>
      <p:pic>
        <p:nvPicPr>
          <p:cNvPr id="5" name="Until now: Excel" descr="preencoded.png">    </p:cNvPr>
          <p:cNvPicPr>
            <a:picLocks noChangeAspect="1"/>
          </p:cNvPicPr>
          <p:nvPr/>
        </p:nvPicPr>
        <p:blipFill>
          <a:blip r:embed="rId1"/>
          <a:stretch>
            <a:fillRect/>
          </a:stretch>
        </p:blipFill>
        <p:spPr>
          <a:xfrm>
            <a:off x="1121054" y="1944014"/>
            <a:ext cx="409651" cy="409651"/>
          </a:xfrm>
          <a:prstGeom prst="rect">
            <a:avLst/>
          </a:prstGeom>
        </p:spPr>
      </p:pic>
      <p:sp>
        <p:nvSpPr>
          <p:cNvPr id="6" name="Text 3"/>
          <p:cNvSpPr txBox="1"/>
          <p:nvPr/>
        </p:nvSpPr>
        <p:spPr>
          <a:xfrm>
            <a:off x="1874520" y="1874520"/>
            <a:ext cx="3840480" cy="548640"/>
          </a:xfrm>
          <a:prstGeom prst="rect">
            <a:avLst/>
          </a:prstGeom>
          <a:noFill/>
          <a:ln/>
        </p:spPr>
        <p:txBody>
          <a:bodyPr wrap="square" lIns="0" tIns="0" rIns="0" bIns="0" rtlCol="0" anchor="ctr"/>
          <a:lstStyle/>
          <a:p>
            <a:pPr indent="0" marL="0">
              <a:buNone/>
            </a:pPr>
            <a:r>
              <a:rPr lang="en-US" sz="2400" b="1" dirty="0">
                <a:solidFill>
                  <a:schemeClr val="tx2"/>
                </a:solidFill>
              </a:rPr>
              <a:t>Until now: Excel</a:t>
            </a:r>
            <a:endParaRPr lang="en-US" sz="2400" dirty="0"/>
          </a:p>
        </p:txBody>
      </p:sp>
      <p:sp>
        <p:nvSpPr>
          <p:cNvPr id="7" name="Text 4"/>
          <p:cNvSpPr txBox="1"/>
          <p:nvPr/>
        </p:nvSpPr>
        <p:spPr>
          <a:xfrm>
            <a:off x="1005840" y="2788920"/>
            <a:ext cx="4572000" cy="20116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Several sheets to keep in step</a:t>
            </a:r>
            <a:endParaRPr lang="en-US" sz="1800" dirty="0"/>
          </a:p>
          <a:p>
            <a:pPr marL="342900" indent="-342900">
              <a:spcAft>
                <a:spcPts val="1400"/>
              </a:spcAft>
              <a:buSzPct val="100000"/>
              <a:buChar char="•"/>
            </a:pPr>
            <a:r>
              <a:rPr lang="en-US" sz="1800" dirty="0">
                <a:solidFill>
                  <a:schemeClr val="tx1"/>
                </a:solidFill>
              </a:rPr>
              <a:t>Results counted by hand each week</a:t>
            </a:r>
            <a:endParaRPr lang="en-US" sz="1800" dirty="0"/>
          </a:p>
          <a:p>
            <a:pPr marL="342900" indent="-342900">
              <a:spcAft>
                <a:spcPts val="1400"/>
              </a:spcAft>
              <a:buSzPct val="100000"/>
              <a:buChar char="•"/>
            </a:pPr>
            <a:r>
              <a:rPr lang="en-US" sz="1800" dirty="0">
                <a:solidFill>
                  <a:schemeClr val="tx1"/>
                </a:solidFill>
              </a:rPr>
              <a:t>Everyone can see every number</a:t>
            </a:r>
            <a:endParaRPr lang="en-US" sz="1800" dirty="0"/>
          </a:p>
          <a:p>
            <a:pPr marL="342900" indent="-342900">
              <a:spcAft>
                <a:spcPts val="1400"/>
              </a:spcAft>
              <a:buSzPct val="100000"/>
              <a:buChar char="•"/>
            </a:pPr>
            <a:r>
              <a:rPr lang="en-US" sz="1800" dirty="0">
                <a:solidFill>
                  <a:schemeClr val="tx1"/>
                </a:solidFill>
              </a:rPr>
              <a:t>Easy to overwrite what was there before</a:t>
            </a:r>
            <a:endParaRPr lang="en-US" sz="1800" dirty="0"/>
          </a:p>
        </p:txBody>
      </p:sp>
      <p:sp>
        <p:nvSpPr>
          <p:cNvPr id="8" name="Now: EMS Seva card"/>
          <p:cNvSpPr/>
          <p:nvPr/>
        </p:nvSpPr>
        <p:spPr>
          <a:xfrm>
            <a:off x="6263640" y="1417320"/>
            <a:ext cx="5394960" cy="3520440"/>
          </a:xfrm>
          <a:prstGeom prst="roundRect">
            <a:avLst>
              <a:gd name="adj" fmla="val 3117"/>
            </a:avLst>
          </a:prstGeom>
          <a:solidFill>
            <a:srgbClr val="E6F4F2"/>
          </a:solidFill>
          <a:ln w="12700">
            <a:solidFill>
              <a:srgbClr val="E6F4F2"/>
            </a:solidFill>
            <a:prstDash val="solid"/>
          </a:ln>
        </p:spPr>
      </p:sp>
      <p:sp>
        <p:nvSpPr>
          <p:cNvPr id="9" name="Now: EMS Seva circle"/>
          <p:cNvSpPr/>
          <p:nvPr/>
        </p:nvSpPr>
        <p:spPr>
          <a:xfrm>
            <a:off x="6675120" y="1783080"/>
            <a:ext cx="731520" cy="731520"/>
          </a:xfrm>
          <a:prstGeom prst="ellipse">
            <a:avLst/>
          </a:prstGeom>
          <a:solidFill>
            <a:schemeClr val="accent1"/>
          </a:solidFill>
          <a:ln w="12700">
            <a:solidFill>
              <a:schemeClr val="accent1"/>
            </a:solidFill>
            <a:prstDash val="solid"/>
          </a:ln>
        </p:spPr>
      </p:sp>
      <p:pic>
        <p:nvPicPr>
          <p:cNvPr id="10" name="Now: EMS Seva" descr="preencoded.png">    </p:cNvPr>
          <p:cNvPicPr>
            <a:picLocks noChangeAspect="1"/>
          </p:cNvPicPr>
          <p:nvPr/>
        </p:nvPicPr>
        <p:blipFill>
          <a:blip r:embed="rId2"/>
          <a:stretch>
            <a:fillRect/>
          </a:stretch>
        </p:blipFill>
        <p:spPr>
          <a:xfrm>
            <a:off x="6836054" y="1944014"/>
            <a:ext cx="409651" cy="409651"/>
          </a:xfrm>
          <a:prstGeom prst="rect">
            <a:avLst/>
          </a:prstGeom>
        </p:spPr>
      </p:pic>
      <p:sp>
        <p:nvSpPr>
          <p:cNvPr id="11" name="Text 7"/>
          <p:cNvSpPr txBox="1"/>
          <p:nvPr/>
        </p:nvSpPr>
        <p:spPr>
          <a:xfrm>
            <a:off x="7589520" y="1874520"/>
            <a:ext cx="3840480" cy="548640"/>
          </a:xfrm>
          <a:prstGeom prst="rect">
            <a:avLst/>
          </a:prstGeom>
          <a:noFill/>
          <a:ln/>
        </p:spPr>
        <p:txBody>
          <a:bodyPr wrap="square" lIns="0" tIns="0" rIns="0" bIns="0" rtlCol="0" anchor="ctr"/>
          <a:lstStyle/>
          <a:p>
            <a:pPr indent="0" marL="0">
              <a:buNone/>
            </a:pPr>
            <a:r>
              <a:rPr lang="en-US" sz="2400" b="1" dirty="0">
                <a:solidFill>
                  <a:schemeClr val="tx2"/>
                </a:solidFill>
              </a:rPr>
              <a:t>Now: EMS Seva</a:t>
            </a:r>
            <a:endParaRPr lang="en-US" sz="2400" dirty="0"/>
          </a:p>
        </p:txBody>
      </p:sp>
      <p:sp>
        <p:nvSpPr>
          <p:cNvPr id="12" name="Text 8"/>
          <p:cNvSpPr txBox="1"/>
          <p:nvPr/>
        </p:nvSpPr>
        <p:spPr>
          <a:xfrm>
            <a:off x="6720840" y="2788920"/>
            <a:ext cx="4572000" cy="20116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Each caller sees only their own list</a:t>
            </a:r>
            <a:endParaRPr lang="en-US" sz="1800" dirty="0"/>
          </a:p>
          <a:p>
            <a:pPr marL="342900" indent="-342900">
              <a:spcAft>
                <a:spcPts val="1400"/>
              </a:spcAft>
              <a:buSzPct val="100000"/>
              <a:buChar char="•"/>
            </a:pPr>
            <a:r>
              <a:rPr lang="en-US" sz="1800" dirty="0">
                <a:solidFill>
                  <a:schemeClr val="tx1"/>
                </a:solidFill>
              </a:rPr>
              <a:t>One tap records the result</a:t>
            </a:r>
            <a:endParaRPr lang="en-US" sz="1800" dirty="0"/>
          </a:p>
          <a:p>
            <a:pPr marL="342900" indent="-342900">
              <a:spcAft>
                <a:spcPts val="1400"/>
              </a:spcAft>
              <a:buSzPct val="100000"/>
              <a:buChar char="•"/>
            </a:pPr>
            <a:r>
              <a:rPr lang="en-US" sz="1800" dirty="0">
                <a:solidFill>
                  <a:schemeClr val="tx1"/>
                </a:solidFill>
              </a:rPr>
              <a:t>Coordinators see progress live</a:t>
            </a:r>
            <a:endParaRPr lang="en-US" sz="1800" dirty="0"/>
          </a:p>
          <a:p>
            <a:pPr marL="342900" indent="-342900">
              <a:spcAft>
                <a:spcPts val="1400"/>
              </a:spcAft>
              <a:buSzPct val="100000"/>
              <a:buChar char="•"/>
            </a:pPr>
            <a:r>
              <a:rPr lang="en-US" sz="1800" dirty="0">
                <a:solidFill>
                  <a:schemeClr val="tx1"/>
                </a:solidFill>
              </a:rPr>
              <a:t>Every change is kept in the history</a:t>
            </a:r>
            <a:endParaRPr lang="en-US" sz="1800" dirty="0"/>
          </a:p>
        </p:txBody>
      </p:sp>
      <p:sp>
        <p:nvSpPr>
          <p:cNvPr id="13" name="Text 9"/>
          <p:cNvSpPr txBox="1"/>
          <p:nvPr/>
        </p:nvSpPr>
        <p:spPr>
          <a:xfrm>
            <a:off x="548640" y="5303520"/>
            <a:ext cx="11064240" cy="457200"/>
          </a:xfrm>
          <a:prstGeom prst="rect">
            <a:avLst/>
          </a:prstGeom>
          <a:noFill/>
          <a:ln/>
        </p:spPr>
        <p:txBody>
          <a:bodyPr wrap="square" lIns="0" tIns="0" rIns="0" bIns="0" rtlCol="0" anchor="t"/>
          <a:lstStyle/>
          <a:p>
            <a:pPr indent="0" marL="0">
              <a:buNone/>
            </a:pPr>
            <a:r>
              <a:rPr lang="en-US" sz="2000" b="1" dirty="0">
                <a:solidFill>
                  <a:schemeClr val="accent1"/>
                </a:solidFill>
              </a:rPr>
              <a:t>Same Saints, same callers, same seva: just simpler to run.</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Three roles, one app</a:t>
            </a:r>
            <a:endParaRPr lang="en-US" sz="3600" dirty="0"/>
          </a:p>
        </p:txBody>
      </p:sp>
      <p:sp>
        <p:nvSpPr>
          <p:cNvPr id="3" name="Caller card"/>
          <p:cNvSpPr/>
          <p:nvPr/>
        </p:nvSpPr>
        <p:spPr>
          <a:xfrm>
            <a:off x="548640" y="1417320"/>
            <a:ext cx="3520440" cy="3520440"/>
          </a:xfrm>
          <a:prstGeom prst="roundRect">
            <a:avLst>
              <a:gd name="adj" fmla="val 3117"/>
            </a:avLst>
          </a:prstGeom>
          <a:solidFill>
            <a:schemeClr val="bg2"/>
          </a:solidFill>
          <a:ln w="12700">
            <a:solidFill>
              <a:schemeClr val="bg2"/>
            </a:solidFill>
            <a:prstDash val="solid"/>
          </a:ln>
        </p:spPr>
      </p:sp>
      <p:sp>
        <p:nvSpPr>
          <p:cNvPr id="4" name="Caller circle"/>
          <p:cNvSpPr/>
          <p:nvPr/>
        </p:nvSpPr>
        <p:spPr>
          <a:xfrm>
            <a:off x="914400" y="1783080"/>
            <a:ext cx="868680" cy="868680"/>
          </a:xfrm>
          <a:prstGeom prst="ellipse">
            <a:avLst/>
          </a:prstGeom>
          <a:solidFill>
            <a:schemeClr val="accent1"/>
          </a:solidFill>
          <a:ln w="12700">
            <a:solidFill>
              <a:schemeClr val="accent1"/>
            </a:solidFill>
            <a:prstDash val="solid"/>
          </a:ln>
        </p:spPr>
      </p:sp>
      <p:pic>
        <p:nvPicPr>
          <p:cNvPr id="5" name="Caller" descr="preencoded.png">    </p:cNvPr>
          <p:cNvPicPr>
            <a:picLocks noChangeAspect="1"/>
          </p:cNvPicPr>
          <p:nvPr/>
        </p:nvPicPr>
        <p:blipFill>
          <a:blip r:embed="rId1"/>
          <a:stretch>
            <a:fillRect/>
          </a:stretch>
        </p:blipFill>
        <p:spPr>
          <a:xfrm>
            <a:off x="1105510" y="1974190"/>
            <a:ext cx="486461" cy="486461"/>
          </a:xfrm>
          <a:prstGeom prst="rect">
            <a:avLst/>
          </a:prstGeom>
        </p:spPr>
      </p:pic>
      <p:sp>
        <p:nvSpPr>
          <p:cNvPr id="6" name="Text 3"/>
          <p:cNvSpPr txBox="1"/>
          <p:nvPr/>
        </p:nvSpPr>
        <p:spPr>
          <a:xfrm>
            <a:off x="914400" y="2880360"/>
            <a:ext cx="2834640" cy="502920"/>
          </a:xfrm>
          <a:prstGeom prst="rect">
            <a:avLst/>
          </a:prstGeom>
          <a:noFill/>
          <a:ln/>
        </p:spPr>
        <p:txBody>
          <a:bodyPr wrap="square" lIns="0" tIns="0" rIns="0" bIns="0" rtlCol="0" anchor="t"/>
          <a:lstStyle/>
          <a:p>
            <a:pPr indent="0" marL="0">
              <a:buNone/>
            </a:pPr>
            <a:r>
              <a:rPr lang="en-US" sz="2400" b="1" dirty="0">
                <a:solidFill>
                  <a:schemeClr val="tx2"/>
                </a:solidFill>
              </a:rPr>
              <a:t>Caller</a:t>
            </a:r>
            <a:endParaRPr lang="en-US" sz="2400" dirty="0"/>
          </a:p>
        </p:txBody>
      </p:sp>
      <p:sp>
        <p:nvSpPr>
          <p:cNvPr id="7" name="Text 4"/>
          <p:cNvSpPr txBox="1"/>
          <p:nvPr/>
        </p:nvSpPr>
        <p:spPr>
          <a:xfrm>
            <a:off x="914400" y="3474720"/>
            <a:ext cx="2834640" cy="1737360"/>
          </a:xfrm>
          <a:prstGeom prst="rect">
            <a:avLst/>
          </a:prstGeom>
          <a:noFill/>
          <a:ln/>
        </p:spPr>
        <p:txBody>
          <a:bodyPr wrap="square" lIns="0" tIns="0" rIns="0" bIns="0" rtlCol="0" anchor="t"/>
          <a:lstStyle/>
          <a:p>
            <a:pPr indent="0" marL="0">
              <a:buNone/>
            </a:pPr>
            <a:r>
              <a:rPr lang="en-US" sz="1600" dirty="0">
                <a:solidFill>
                  <a:schemeClr val="tx1"/>
                </a:solidFill>
              </a:rPr>
              <a:t>Phones their Saints before Sunday and taps the result. Sees only their own list, on their phone.</a:t>
            </a:r>
            <a:endParaRPr lang="en-US" sz="1600" dirty="0"/>
          </a:p>
        </p:txBody>
      </p:sp>
      <p:sp>
        <p:nvSpPr>
          <p:cNvPr id="8" name="Coordinator card"/>
          <p:cNvSpPr/>
          <p:nvPr/>
        </p:nvSpPr>
        <p:spPr>
          <a:xfrm>
            <a:off x="4297680" y="1417320"/>
            <a:ext cx="3520440" cy="3520440"/>
          </a:xfrm>
          <a:prstGeom prst="roundRect">
            <a:avLst>
              <a:gd name="adj" fmla="val 3117"/>
            </a:avLst>
          </a:prstGeom>
          <a:solidFill>
            <a:schemeClr val="bg2"/>
          </a:solidFill>
          <a:ln w="12700">
            <a:solidFill>
              <a:schemeClr val="bg2"/>
            </a:solidFill>
            <a:prstDash val="solid"/>
          </a:ln>
        </p:spPr>
      </p:sp>
      <p:sp>
        <p:nvSpPr>
          <p:cNvPr id="9" name="Coordinator circle"/>
          <p:cNvSpPr/>
          <p:nvPr/>
        </p:nvSpPr>
        <p:spPr>
          <a:xfrm>
            <a:off x="4663440" y="1783080"/>
            <a:ext cx="868680" cy="868680"/>
          </a:xfrm>
          <a:prstGeom prst="ellipse">
            <a:avLst/>
          </a:prstGeom>
          <a:solidFill>
            <a:schemeClr val="accent1"/>
          </a:solidFill>
          <a:ln w="12700">
            <a:solidFill>
              <a:schemeClr val="accent1"/>
            </a:solidFill>
            <a:prstDash val="solid"/>
          </a:ln>
        </p:spPr>
      </p:sp>
      <p:pic>
        <p:nvPicPr>
          <p:cNvPr id="10" name="Coordinator" descr="preencoded.png">    </p:cNvPr>
          <p:cNvPicPr>
            <a:picLocks noChangeAspect="1"/>
          </p:cNvPicPr>
          <p:nvPr/>
        </p:nvPicPr>
        <p:blipFill>
          <a:blip r:embed="rId2"/>
          <a:stretch>
            <a:fillRect/>
          </a:stretch>
        </p:blipFill>
        <p:spPr>
          <a:xfrm>
            <a:off x="4854550" y="1974190"/>
            <a:ext cx="486461" cy="486461"/>
          </a:xfrm>
          <a:prstGeom prst="rect">
            <a:avLst/>
          </a:prstGeom>
        </p:spPr>
      </p:pic>
      <p:sp>
        <p:nvSpPr>
          <p:cNvPr id="11" name="Text 7"/>
          <p:cNvSpPr txBox="1"/>
          <p:nvPr/>
        </p:nvSpPr>
        <p:spPr>
          <a:xfrm>
            <a:off x="4663440" y="2880360"/>
            <a:ext cx="2834640" cy="502920"/>
          </a:xfrm>
          <a:prstGeom prst="rect">
            <a:avLst/>
          </a:prstGeom>
          <a:noFill/>
          <a:ln/>
        </p:spPr>
        <p:txBody>
          <a:bodyPr wrap="square" lIns="0" tIns="0" rIns="0" bIns="0" rtlCol="0" anchor="t"/>
          <a:lstStyle/>
          <a:p>
            <a:pPr indent="0" marL="0">
              <a:buNone/>
            </a:pPr>
            <a:r>
              <a:rPr lang="en-US" sz="2400" b="1" dirty="0">
                <a:solidFill>
                  <a:schemeClr val="tx2"/>
                </a:solidFill>
              </a:rPr>
              <a:t>Coordinator</a:t>
            </a:r>
            <a:endParaRPr lang="en-US" sz="2400" dirty="0"/>
          </a:p>
        </p:txBody>
      </p:sp>
      <p:sp>
        <p:nvSpPr>
          <p:cNvPr id="12" name="Text 8"/>
          <p:cNvSpPr txBox="1"/>
          <p:nvPr/>
        </p:nvSpPr>
        <p:spPr>
          <a:xfrm>
            <a:off x="4663440" y="3474720"/>
            <a:ext cx="2834640" cy="1737360"/>
          </a:xfrm>
          <a:prstGeom prst="rect">
            <a:avLst/>
          </a:prstGeom>
          <a:noFill/>
          <a:ln/>
        </p:spPr>
        <p:txBody>
          <a:bodyPr wrap="square" lIns="0" tIns="0" rIns="0" bIns="0" rtlCol="0" anchor="t"/>
          <a:lstStyle/>
          <a:p>
            <a:pPr indent="0" marL="0">
              <a:buNone/>
            </a:pPr>
            <a:r>
              <a:rPr lang="en-US" sz="1600" dirty="0">
                <a:solidFill>
                  <a:schemeClr val="tx1"/>
                </a:solidFill>
              </a:rPr>
              <a:t>Runs Calling Seva: the Saints, the calling team, who calls whom, starting calling each week and the reports.</a:t>
            </a:r>
            <a:endParaRPr lang="en-US" sz="1600" dirty="0"/>
          </a:p>
        </p:txBody>
      </p:sp>
      <p:sp>
        <p:nvSpPr>
          <p:cNvPr id="13" name="System administrator card"/>
          <p:cNvSpPr/>
          <p:nvPr/>
        </p:nvSpPr>
        <p:spPr>
          <a:xfrm>
            <a:off x="8046720" y="1417320"/>
            <a:ext cx="3520440" cy="3520440"/>
          </a:xfrm>
          <a:prstGeom prst="roundRect">
            <a:avLst>
              <a:gd name="adj" fmla="val 3117"/>
            </a:avLst>
          </a:prstGeom>
          <a:solidFill>
            <a:schemeClr val="bg2"/>
          </a:solidFill>
          <a:ln w="12700">
            <a:solidFill>
              <a:schemeClr val="bg2"/>
            </a:solidFill>
            <a:prstDash val="solid"/>
          </a:ln>
        </p:spPr>
      </p:sp>
      <p:sp>
        <p:nvSpPr>
          <p:cNvPr id="14" name="System administrator circle"/>
          <p:cNvSpPr/>
          <p:nvPr/>
        </p:nvSpPr>
        <p:spPr>
          <a:xfrm>
            <a:off x="8412480" y="1783080"/>
            <a:ext cx="868680" cy="868680"/>
          </a:xfrm>
          <a:prstGeom prst="ellipse">
            <a:avLst/>
          </a:prstGeom>
          <a:solidFill>
            <a:schemeClr val="accent1"/>
          </a:solidFill>
          <a:ln w="12700">
            <a:solidFill>
              <a:schemeClr val="accent1"/>
            </a:solidFill>
            <a:prstDash val="solid"/>
          </a:ln>
        </p:spPr>
      </p:sp>
      <p:pic>
        <p:nvPicPr>
          <p:cNvPr id="15" name="System administrator" descr="preencoded.png">    </p:cNvPr>
          <p:cNvPicPr>
            <a:picLocks noChangeAspect="1"/>
          </p:cNvPicPr>
          <p:nvPr/>
        </p:nvPicPr>
        <p:blipFill>
          <a:blip r:embed="rId3"/>
          <a:stretch>
            <a:fillRect/>
          </a:stretch>
        </p:blipFill>
        <p:spPr>
          <a:xfrm>
            <a:off x="8603590" y="1974190"/>
            <a:ext cx="486461" cy="486461"/>
          </a:xfrm>
          <a:prstGeom prst="rect">
            <a:avLst/>
          </a:prstGeom>
        </p:spPr>
      </p:pic>
      <p:sp>
        <p:nvSpPr>
          <p:cNvPr id="16" name="Text 11"/>
          <p:cNvSpPr txBox="1"/>
          <p:nvPr/>
        </p:nvSpPr>
        <p:spPr>
          <a:xfrm>
            <a:off x="8412480" y="2880360"/>
            <a:ext cx="2834640" cy="502920"/>
          </a:xfrm>
          <a:prstGeom prst="rect">
            <a:avLst/>
          </a:prstGeom>
          <a:noFill/>
          <a:ln/>
        </p:spPr>
        <p:txBody>
          <a:bodyPr wrap="square" lIns="0" tIns="0" rIns="0" bIns="0" rtlCol="0" anchor="t"/>
          <a:lstStyle/>
          <a:p>
            <a:pPr indent="0" marL="0">
              <a:buNone/>
            </a:pPr>
            <a:r>
              <a:rPr lang="en-US" sz="2400" b="1" dirty="0">
                <a:solidFill>
                  <a:schemeClr val="tx2"/>
                </a:solidFill>
              </a:rPr>
              <a:t>System administrator</a:t>
            </a:r>
            <a:endParaRPr lang="en-US" sz="2400" dirty="0"/>
          </a:p>
        </p:txBody>
      </p:sp>
      <p:sp>
        <p:nvSpPr>
          <p:cNvPr id="17" name="Text 12"/>
          <p:cNvSpPr txBox="1"/>
          <p:nvPr/>
        </p:nvSpPr>
        <p:spPr>
          <a:xfrm>
            <a:off x="8412480" y="3474720"/>
            <a:ext cx="2834640" cy="1737360"/>
          </a:xfrm>
          <a:prstGeom prst="rect">
            <a:avLst/>
          </a:prstGeom>
          <a:noFill/>
          <a:ln/>
        </p:spPr>
        <p:txBody>
          <a:bodyPr wrap="square" lIns="0" tIns="0" rIns="0" bIns="0" rtlCol="0" anchor="t"/>
          <a:lstStyle/>
          <a:p>
            <a:pPr indent="0" marL="0">
              <a:buNone/>
            </a:pPr>
            <a:r>
              <a:rPr lang="en-US" sz="1600" dirty="0">
                <a:solidFill>
                  <a:schemeClr val="tx1"/>
                </a:solidFill>
              </a:rPr>
              <a:t>Sets the app up, creates the coordinators' logins and keeps backups of the data.</a:t>
            </a:r>
            <a:endParaRPr lang="en-US" sz="1600" dirty="0"/>
          </a:p>
        </p:txBody>
      </p:sp>
      <p:sp>
        <p:nvSpPr>
          <p:cNvPr id="18" name="Text 13"/>
          <p:cNvSpPr txBox="1"/>
          <p:nvPr/>
        </p:nvSpPr>
        <p:spPr>
          <a:xfrm>
            <a:off x="548640" y="5303520"/>
            <a:ext cx="11064240" cy="457200"/>
          </a:xfrm>
          <a:prstGeom prst="rect">
            <a:avLst/>
          </a:prstGeom>
          <a:noFill/>
          <a:ln/>
        </p:spPr>
        <p:txBody>
          <a:bodyPr wrap="square" lIns="0" tIns="0" rIns="0" bIns="0" rtlCol="0" anchor="t"/>
          <a:lstStyle/>
          <a:p>
            <a:pPr indent="0" marL="0">
              <a:buNone/>
            </a:pPr>
            <a:r>
              <a:rPr lang="en-US" sz="2000" b="1" dirty="0">
                <a:solidFill>
                  <a:schemeClr val="accent1"/>
                </a:solidFill>
              </a:rPr>
              <a:t>Saints never log in: they are the people we call.</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Every week in five steps</a:t>
            </a:r>
            <a:endParaRPr lang="en-US" sz="3600" dirty="0"/>
          </a:p>
        </p:txBody>
      </p:sp>
      <p:sp>
        <p:nvSpPr>
          <p:cNvPr id="3" name="timeline line"/>
          <p:cNvSpPr/>
          <p:nvPr/>
        </p:nvSpPr>
        <p:spPr>
          <a:xfrm>
            <a:off x="1623060" y="2788920"/>
            <a:ext cx="8887968" cy="0"/>
          </a:xfrm>
          <a:prstGeom prst="line">
            <a:avLst/>
          </a:prstGeom>
          <a:noFill/>
          <a:ln w="31750">
            <a:solidFill>
              <a:schemeClr val="accent2"/>
            </a:solidFill>
            <a:prstDash val="solid"/>
          </a:ln>
        </p:spPr>
      </p:sp>
      <p:sp>
        <p:nvSpPr>
          <p:cNvPr id="4" name="step 1 circle"/>
          <p:cNvSpPr/>
          <p:nvPr/>
        </p:nvSpPr>
        <p:spPr>
          <a:xfrm>
            <a:off x="1211580" y="2377440"/>
            <a:ext cx="822960" cy="822960"/>
          </a:xfrm>
          <a:prstGeom prst="ellipse">
            <a:avLst/>
          </a:prstGeom>
          <a:solidFill>
            <a:schemeClr val="accent1"/>
          </a:solidFill>
          <a:ln w="38100">
            <a:solidFill>
              <a:schemeClr val="bg1"/>
            </a:solidFill>
            <a:prstDash val="solid"/>
          </a:ln>
        </p:spPr>
      </p:sp>
      <p:sp>
        <p:nvSpPr>
          <p:cNvPr id="5" name="step 1 number"/>
          <p:cNvSpPr txBox="1"/>
          <p:nvPr/>
        </p:nvSpPr>
        <p:spPr>
          <a:xfrm>
            <a:off x="1211580" y="23774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6" name="Text 4"/>
          <p:cNvSpPr txBox="1"/>
          <p:nvPr/>
        </p:nvSpPr>
        <p:spPr>
          <a:xfrm>
            <a:off x="548640" y="3474720"/>
            <a:ext cx="2148840" cy="457200"/>
          </a:xfrm>
          <a:prstGeom prst="rect">
            <a:avLst/>
          </a:prstGeom>
          <a:noFill/>
          <a:ln/>
        </p:spPr>
        <p:txBody>
          <a:bodyPr wrap="square" lIns="0" tIns="0" rIns="0" bIns="0" rtlCol="0" anchor="t"/>
          <a:lstStyle/>
          <a:p>
            <a:pPr algn="ctr" indent="0" marL="0">
              <a:buNone/>
            </a:pPr>
            <a:r>
              <a:rPr lang="en-US" sz="2000" b="1" dirty="0">
                <a:solidFill>
                  <a:schemeClr val="tx2"/>
                </a:solidFill>
              </a:rPr>
              <a:t>Saturday morning</a:t>
            </a:r>
            <a:endParaRPr lang="en-US" sz="2000" dirty="0"/>
          </a:p>
        </p:txBody>
      </p:sp>
      <p:sp>
        <p:nvSpPr>
          <p:cNvPr id="7" name="Text 5"/>
          <p:cNvSpPr txBox="1"/>
          <p:nvPr/>
        </p:nvSpPr>
        <p:spPr>
          <a:xfrm>
            <a:off x="640080" y="3977640"/>
            <a:ext cx="1965960" cy="1188720"/>
          </a:xfrm>
          <a:prstGeom prst="rect">
            <a:avLst/>
          </a:prstGeom>
          <a:noFill/>
          <a:ln/>
        </p:spPr>
        <p:txBody>
          <a:bodyPr wrap="square" lIns="0" tIns="0" rIns="0" bIns="0" rtlCol="0" anchor="t"/>
          <a:lstStyle/>
          <a:p>
            <a:pPr algn="ctr" indent="0" marL="0">
              <a:buNone/>
            </a:pPr>
            <a:r>
              <a:rPr lang="en-US" sz="1600" dirty="0">
                <a:solidFill>
                  <a:schemeClr val="tx1"/>
                </a:solidFill>
              </a:rPr>
              <a:t>Coordinator taps Start calling</a:t>
            </a:r>
            <a:endParaRPr lang="en-US" sz="1600" dirty="0"/>
          </a:p>
        </p:txBody>
      </p:sp>
      <p:sp>
        <p:nvSpPr>
          <p:cNvPr id="8" name="step 2 circle"/>
          <p:cNvSpPr/>
          <p:nvPr/>
        </p:nvSpPr>
        <p:spPr>
          <a:xfrm>
            <a:off x="3433572" y="2377440"/>
            <a:ext cx="822960" cy="822960"/>
          </a:xfrm>
          <a:prstGeom prst="ellipse">
            <a:avLst/>
          </a:prstGeom>
          <a:solidFill>
            <a:schemeClr val="accent1"/>
          </a:solidFill>
          <a:ln w="38100">
            <a:solidFill>
              <a:schemeClr val="bg1"/>
            </a:solidFill>
            <a:prstDash val="solid"/>
          </a:ln>
        </p:spPr>
      </p:sp>
      <p:sp>
        <p:nvSpPr>
          <p:cNvPr id="9" name="step 2 number"/>
          <p:cNvSpPr txBox="1"/>
          <p:nvPr/>
        </p:nvSpPr>
        <p:spPr>
          <a:xfrm>
            <a:off x="3433572" y="23774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0" name="Text 8"/>
          <p:cNvSpPr txBox="1"/>
          <p:nvPr/>
        </p:nvSpPr>
        <p:spPr>
          <a:xfrm>
            <a:off x="2770632" y="3474720"/>
            <a:ext cx="2148840" cy="457200"/>
          </a:xfrm>
          <a:prstGeom prst="rect">
            <a:avLst/>
          </a:prstGeom>
          <a:noFill/>
          <a:ln/>
        </p:spPr>
        <p:txBody>
          <a:bodyPr wrap="square" lIns="0" tIns="0" rIns="0" bIns="0" rtlCol="0" anchor="t"/>
          <a:lstStyle/>
          <a:p>
            <a:pPr algn="ctr" indent="0" marL="0">
              <a:buNone/>
            </a:pPr>
            <a:r>
              <a:rPr lang="en-US" sz="2000" b="1" dirty="0">
                <a:solidFill>
                  <a:schemeClr val="tx2"/>
                </a:solidFill>
              </a:rPr>
              <a:t>Share</a:t>
            </a:r>
            <a:endParaRPr lang="en-US" sz="2000" dirty="0"/>
          </a:p>
        </p:txBody>
      </p:sp>
      <p:sp>
        <p:nvSpPr>
          <p:cNvPr id="11" name="Text 9"/>
          <p:cNvSpPr txBox="1"/>
          <p:nvPr/>
        </p:nvSpPr>
        <p:spPr>
          <a:xfrm>
            <a:off x="2862072" y="3977640"/>
            <a:ext cx="1965960" cy="1188720"/>
          </a:xfrm>
          <a:prstGeom prst="rect">
            <a:avLst/>
          </a:prstGeom>
          <a:noFill/>
          <a:ln/>
        </p:spPr>
        <p:txBody>
          <a:bodyPr wrap="square" lIns="0" tIns="0" rIns="0" bIns="0" rtlCol="0" anchor="t"/>
          <a:lstStyle/>
          <a:p>
            <a:pPr algn="ctr" indent="0" marL="0">
              <a:buNone/>
            </a:pPr>
            <a:r>
              <a:rPr lang="en-US" sz="1600" dirty="0">
                <a:solidFill>
                  <a:schemeClr val="tx1"/>
                </a:solidFill>
              </a:rPr>
              <a:t>Reminder sent to the seva group on WhatsApp</a:t>
            </a:r>
            <a:endParaRPr lang="en-US" sz="1600" dirty="0"/>
          </a:p>
        </p:txBody>
      </p:sp>
      <p:sp>
        <p:nvSpPr>
          <p:cNvPr id="12" name="step 3 circle"/>
          <p:cNvSpPr/>
          <p:nvPr/>
        </p:nvSpPr>
        <p:spPr>
          <a:xfrm>
            <a:off x="5655564" y="2377440"/>
            <a:ext cx="822960" cy="822960"/>
          </a:xfrm>
          <a:prstGeom prst="ellipse">
            <a:avLst/>
          </a:prstGeom>
          <a:solidFill>
            <a:schemeClr val="accent1"/>
          </a:solidFill>
          <a:ln w="38100">
            <a:solidFill>
              <a:schemeClr val="bg1"/>
            </a:solidFill>
            <a:prstDash val="solid"/>
          </a:ln>
        </p:spPr>
      </p:sp>
      <p:sp>
        <p:nvSpPr>
          <p:cNvPr id="13" name="step 3 number"/>
          <p:cNvSpPr txBox="1"/>
          <p:nvPr/>
        </p:nvSpPr>
        <p:spPr>
          <a:xfrm>
            <a:off x="5655564" y="23774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4" name="Text 12"/>
          <p:cNvSpPr txBox="1"/>
          <p:nvPr/>
        </p:nvSpPr>
        <p:spPr>
          <a:xfrm>
            <a:off x="4992624" y="3474720"/>
            <a:ext cx="2148840" cy="457200"/>
          </a:xfrm>
          <a:prstGeom prst="rect">
            <a:avLst/>
          </a:prstGeom>
          <a:noFill/>
          <a:ln/>
        </p:spPr>
        <p:txBody>
          <a:bodyPr wrap="square" lIns="0" tIns="0" rIns="0" bIns="0" rtlCol="0" anchor="t"/>
          <a:lstStyle/>
          <a:p>
            <a:pPr algn="ctr" indent="0" marL="0">
              <a:buNone/>
            </a:pPr>
            <a:r>
              <a:rPr lang="en-US" sz="2000" b="1" dirty="0">
                <a:solidFill>
                  <a:schemeClr val="tx2"/>
                </a:solidFill>
              </a:rPr>
              <a:t>Call</a:t>
            </a:r>
            <a:endParaRPr lang="en-US" sz="2000" dirty="0"/>
          </a:p>
        </p:txBody>
      </p:sp>
      <p:sp>
        <p:nvSpPr>
          <p:cNvPr id="15" name="Text 13"/>
          <p:cNvSpPr txBox="1"/>
          <p:nvPr/>
        </p:nvSpPr>
        <p:spPr>
          <a:xfrm>
            <a:off x="5084064" y="3977640"/>
            <a:ext cx="1965960" cy="1188720"/>
          </a:xfrm>
          <a:prstGeom prst="rect">
            <a:avLst/>
          </a:prstGeom>
          <a:noFill/>
          <a:ln/>
        </p:spPr>
        <p:txBody>
          <a:bodyPr wrap="square" lIns="0" tIns="0" rIns="0" bIns="0" rtlCol="0" anchor="t"/>
          <a:lstStyle/>
          <a:p>
            <a:pPr algn="ctr" indent="0" marL="0">
              <a:buNone/>
            </a:pPr>
            <a:r>
              <a:rPr lang="en-US" sz="1600" dirty="0">
                <a:solidFill>
                  <a:schemeClr val="tx1"/>
                </a:solidFill>
              </a:rPr>
              <a:t>Callers phone their Saints and tap each result</a:t>
            </a:r>
            <a:endParaRPr lang="en-US" sz="1600" dirty="0"/>
          </a:p>
        </p:txBody>
      </p:sp>
      <p:sp>
        <p:nvSpPr>
          <p:cNvPr id="16" name="step 4 circle"/>
          <p:cNvSpPr/>
          <p:nvPr/>
        </p:nvSpPr>
        <p:spPr>
          <a:xfrm>
            <a:off x="7877556" y="2377440"/>
            <a:ext cx="822960" cy="822960"/>
          </a:xfrm>
          <a:prstGeom prst="ellipse">
            <a:avLst/>
          </a:prstGeom>
          <a:solidFill>
            <a:schemeClr val="accent1"/>
          </a:solidFill>
          <a:ln w="38100">
            <a:solidFill>
              <a:schemeClr val="bg1"/>
            </a:solidFill>
            <a:prstDash val="solid"/>
          </a:ln>
        </p:spPr>
      </p:sp>
      <p:sp>
        <p:nvSpPr>
          <p:cNvPr id="17" name="step 4 number"/>
          <p:cNvSpPr txBox="1"/>
          <p:nvPr/>
        </p:nvSpPr>
        <p:spPr>
          <a:xfrm>
            <a:off x="7877556" y="23774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8" name="Text 16"/>
          <p:cNvSpPr txBox="1"/>
          <p:nvPr/>
        </p:nvSpPr>
        <p:spPr>
          <a:xfrm>
            <a:off x="7214616" y="3474720"/>
            <a:ext cx="2148840" cy="457200"/>
          </a:xfrm>
          <a:prstGeom prst="rect">
            <a:avLst/>
          </a:prstGeom>
          <a:noFill/>
          <a:ln/>
        </p:spPr>
        <p:txBody>
          <a:bodyPr wrap="square" lIns="0" tIns="0" rIns="0" bIns="0" rtlCol="0" anchor="t"/>
          <a:lstStyle/>
          <a:p>
            <a:pPr algn="ctr" indent="0" marL="0">
              <a:buNone/>
            </a:pPr>
            <a:r>
              <a:rPr lang="en-US" sz="2000" b="1" dirty="0">
                <a:solidFill>
                  <a:schemeClr val="tx2"/>
                </a:solidFill>
              </a:rPr>
              <a:t>Follow</a:t>
            </a:r>
            <a:endParaRPr lang="en-US" sz="2000" dirty="0"/>
          </a:p>
        </p:txBody>
      </p:sp>
      <p:sp>
        <p:nvSpPr>
          <p:cNvPr id="19" name="Text 17"/>
          <p:cNvSpPr txBox="1"/>
          <p:nvPr/>
        </p:nvSpPr>
        <p:spPr>
          <a:xfrm>
            <a:off x="7306056" y="3977640"/>
            <a:ext cx="1965960" cy="1188720"/>
          </a:xfrm>
          <a:prstGeom prst="rect">
            <a:avLst/>
          </a:prstGeom>
          <a:noFill/>
          <a:ln/>
        </p:spPr>
        <p:txBody>
          <a:bodyPr wrap="square" lIns="0" tIns="0" rIns="0" bIns="0" rtlCol="0" anchor="t"/>
          <a:lstStyle/>
          <a:p>
            <a:pPr algn="ctr" indent="0" marL="0">
              <a:buNone/>
            </a:pPr>
            <a:r>
              <a:rPr lang="en-US" sz="1600" dirty="0">
                <a:solidFill>
                  <a:schemeClr val="tx1"/>
                </a:solidFill>
              </a:rPr>
              <a:t>The dashboard shows progress live</a:t>
            </a:r>
            <a:endParaRPr lang="en-US" sz="1600" dirty="0"/>
          </a:p>
        </p:txBody>
      </p:sp>
      <p:sp>
        <p:nvSpPr>
          <p:cNvPr id="20" name="step 5 circle"/>
          <p:cNvSpPr/>
          <p:nvPr/>
        </p:nvSpPr>
        <p:spPr>
          <a:xfrm>
            <a:off x="10099548" y="2377440"/>
            <a:ext cx="822960" cy="822960"/>
          </a:xfrm>
          <a:prstGeom prst="ellipse">
            <a:avLst/>
          </a:prstGeom>
          <a:solidFill>
            <a:schemeClr val="accent1"/>
          </a:solidFill>
          <a:ln w="38100">
            <a:solidFill>
              <a:schemeClr val="bg1"/>
            </a:solidFill>
            <a:prstDash val="solid"/>
          </a:ln>
        </p:spPr>
      </p:sp>
      <p:sp>
        <p:nvSpPr>
          <p:cNvPr id="21" name="step 5 number"/>
          <p:cNvSpPr txBox="1"/>
          <p:nvPr/>
        </p:nvSpPr>
        <p:spPr>
          <a:xfrm>
            <a:off x="10099548" y="23774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5</a:t>
            </a:r>
            <a:endParaRPr lang="en-US" sz="2800" dirty="0"/>
          </a:p>
        </p:txBody>
      </p:sp>
      <p:sp>
        <p:nvSpPr>
          <p:cNvPr id="22" name="Text 20"/>
          <p:cNvSpPr txBox="1"/>
          <p:nvPr/>
        </p:nvSpPr>
        <p:spPr>
          <a:xfrm>
            <a:off x="9436608" y="3474720"/>
            <a:ext cx="2148840" cy="457200"/>
          </a:xfrm>
          <a:prstGeom prst="rect">
            <a:avLst/>
          </a:prstGeom>
          <a:noFill/>
          <a:ln/>
        </p:spPr>
        <p:txBody>
          <a:bodyPr wrap="square" lIns="0" tIns="0" rIns="0" bIns="0" rtlCol="0" anchor="t"/>
          <a:lstStyle/>
          <a:p>
            <a:pPr algn="ctr" indent="0" marL="0">
              <a:buNone/>
            </a:pPr>
            <a:r>
              <a:rPr lang="en-US" sz="2000" b="1" dirty="0">
                <a:solidFill>
                  <a:schemeClr val="tx2"/>
                </a:solidFill>
              </a:rPr>
              <a:t>Sunday</a:t>
            </a:r>
            <a:endParaRPr lang="en-US" sz="2000" dirty="0"/>
          </a:p>
        </p:txBody>
      </p:sp>
      <p:sp>
        <p:nvSpPr>
          <p:cNvPr id="23" name="Text 21"/>
          <p:cNvSpPr txBox="1"/>
          <p:nvPr/>
        </p:nvSpPr>
        <p:spPr>
          <a:xfrm>
            <a:off x="9528048" y="3977640"/>
            <a:ext cx="1965960" cy="1188720"/>
          </a:xfrm>
          <a:prstGeom prst="rect">
            <a:avLst/>
          </a:prstGeom>
          <a:noFill/>
          <a:ln/>
        </p:spPr>
        <p:txBody>
          <a:bodyPr wrap="square" lIns="0" tIns="0" rIns="0" bIns="0" rtlCol="0" anchor="t"/>
          <a:lstStyle/>
          <a:p>
            <a:pPr algn="ctr" indent="0" marL="0">
              <a:buNone/>
            </a:pPr>
            <a:r>
              <a:rPr lang="en-US" sz="1600" dirty="0">
                <a:solidFill>
                  <a:schemeClr val="tx1"/>
                </a:solidFill>
              </a:rPr>
              <a:t>EMS Congregation; results ready to export</a:t>
            </a:r>
            <a:endParaRPr lang="en-US" sz="1600" dirty="0"/>
          </a:p>
        </p:txBody>
      </p:sp>
      <p:sp>
        <p:nvSpPr>
          <p:cNvPr id="24" name="Text 22"/>
          <p:cNvSpPr txBox="1"/>
          <p:nvPr/>
        </p:nvSpPr>
        <p:spPr>
          <a:xfrm>
            <a:off x="548640" y="5623560"/>
            <a:ext cx="11064240" cy="411480"/>
          </a:xfrm>
          <a:prstGeom prst="rect">
            <a:avLst/>
          </a:prstGeom>
          <a:noFill/>
          <a:ln/>
        </p:spPr>
        <p:txBody>
          <a:bodyPr wrap="square" lIns="0" tIns="0" rIns="0" bIns="0" rtlCol="0" anchor="t"/>
          <a:lstStyle/>
          <a:p>
            <a:pPr indent="0" marL="0">
              <a:buNone/>
            </a:pPr>
            <a:r>
              <a:rPr lang="en-US" sz="1600" i="1" dirty="0">
                <a:solidFill>
                  <a:schemeClr val="accent1"/>
                </a:solidFill>
              </a:rPr>
              <a:t>Next Saturday's Start calling closes the previous week automatically.</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097280"/>
          </a:xfrm>
          <a:prstGeom prst="rect">
            <a:avLst/>
          </a:prstGeom>
          <a:noFill/>
          <a:ln/>
        </p:spPr>
        <p:txBody>
          <a:bodyPr wrap="square" lIns="0" tIns="0" rIns="0" bIns="0" rtlCol="0" anchor="b"/>
          <a:lstStyle/>
          <a:p>
            <a:pPr algn="l" indent="0" marL="0">
              <a:buNone/>
            </a:pPr>
            <a:r>
              <a:rPr lang="en-US" sz="4800" b="1" dirty="0">
                <a:solidFill>
                  <a:schemeClr val="bg1"/>
                </a:solidFill>
              </a:rPr>
              <a:t>For callers</a:t>
            </a:r>
            <a:endParaRPr lang="en-US" sz="4800" dirty="0"/>
          </a:p>
        </p:txBody>
      </p:sp>
      <p:sp>
        <p:nvSpPr>
          <p:cNvPr id="3" name="Text 0"/>
          <p:cNvSpPr/>
          <p:nvPr>
            <p:ph idx="101" type="body" hasCustomPrompt="1"/>
          </p:nvPr>
        </p:nvSpPr>
        <p:spPr>
          <a:xfrm>
            <a:off x="731520" y="3657600"/>
            <a:ext cx="10698480" cy="822960"/>
          </a:xfrm>
          <a:prstGeom prst="rect">
            <a:avLst/>
          </a:prstGeom>
          <a:noFill/>
          <a:ln/>
        </p:spPr>
        <p:txBody>
          <a:bodyPr wrap="square" lIns="0" tIns="0" rIns="0" bIns="0" rtlCol="0" anchor="t"/>
          <a:lstStyle/>
          <a:p>
            <a:pPr algn="l" indent="0" marL="0">
              <a:buNone/>
            </a:pPr>
            <a:r>
              <a:rPr lang="en-US" sz="2200" dirty="0">
                <a:solidFill>
                  <a:schemeClr val="accent2"/>
                </a:solidFill>
              </a:rPr>
              <a:t>Everything happens on your phone, under My calls</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My calls: your list on your phone</a:t>
            </a:r>
            <a:endParaRPr lang="en-US" sz="3600" dirty="0"/>
          </a:p>
        </p:txBody>
      </p:sp>
      <p:sp>
        <p:nvSpPr>
          <p:cNvPr id="3" name="my calls screenshot frame"/>
          <p:cNvSpPr/>
          <p:nvPr/>
        </p:nvSpPr>
        <p:spPr>
          <a:xfrm>
            <a:off x="749808" y="1207008"/>
            <a:ext cx="2432304" cy="5093208"/>
          </a:xfrm>
          <a:prstGeom prst="roundRect">
            <a:avLst>
              <a:gd name="adj" fmla="val 3008"/>
            </a:avLst>
          </a:prstGeom>
          <a:solidFill>
            <a:schemeClr val="bg1"/>
          </a:solidFill>
          <a:ln w="9525">
            <a:solidFill>
              <a:srgbClr val="D5DBE3"/>
            </a:solidFill>
            <a:prstDash val="solid"/>
          </a:ln>
          <a:effectLst>
            <a:outerShdw sx="100000" sy="100000" kx="0" ky="0" algn="bl" rotWithShape="0" blurRad="127000" dist="38100" dir="5400000">
              <a:srgbClr val="0F172A">
                <a:alpha val="18000"/>
              </a:srgbClr>
            </a:outerShdw>
          </a:effectLst>
        </p:spPr>
      </p:sp>
      <p:pic>
        <p:nvPicPr>
          <p:cNvPr id="4" name="my calls screenshot" descr="My calls on a phone: progress at the top, then one card per Saint with a Call button and four result buttons">    </p:cNvPr>
          <p:cNvPicPr>
            <a:picLocks noChangeAspect="1"/>
          </p:cNvPicPr>
          <p:nvPr/>
        </p:nvPicPr>
        <p:blipFill>
          <a:blip r:embed="rId1"/>
          <a:stretch>
            <a:fillRect/>
          </a:stretch>
        </p:blipFill>
        <p:spPr>
          <a:xfrm>
            <a:off x="822960" y="1280160"/>
            <a:ext cx="2286000" cy="4946904"/>
          </a:xfrm>
          <a:prstGeom prst="rect">
            <a:avLst/>
          </a:prstGeom>
        </p:spPr>
      </p:pic>
      <p:sp>
        <p:nvSpPr>
          <p:cNvPr id="5" name="how 1 circle"/>
          <p:cNvSpPr/>
          <p:nvPr/>
        </p:nvSpPr>
        <p:spPr>
          <a:xfrm>
            <a:off x="3931920" y="1463040"/>
            <a:ext cx="685800" cy="685800"/>
          </a:xfrm>
          <a:prstGeom prst="ellipse">
            <a:avLst/>
          </a:prstGeom>
          <a:solidFill>
            <a:schemeClr val="accent1"/>
          </a:solidFill>
          <a:ln w="12700">
            <a:solidFill>
              <a:schemeClr val="accent1"/>
            </a:solidFill>
            <a:prstDash val="solid"/>
          </a:ln>
        </p:spPr>
      </p:sp>
      <p:sp>
        <p:nvSpPr>
          <p:cNvPr id="6" name="how 1 number"/>
          <p:cNvSpPr txBox="1"/>
          <p:nvPr/>
        </p:nvSpPr>
        <p:spPr>
          <a:xfrm>
            <a:off x="3931920" y="14630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 4"/>
          <p:cNvSpPr txBox="1"/>
          <p:nvPr/>
        </p:nvSpPr>
        <p:spPr>
          <a:xfrm>
            <a:off x="4892040" y="1444752"/>
            <a:ext cx="6583680" cy="411480"/>
          </a:xfrm>
          <a:prstGeom prst="rect">
            <a:avLst/>
          </a:prstGeom>
          <a:noFill/>
          <a:ln/>
        </p:spPr>
        <p:txBody>
          <a:bodyPr wrap="square" lIns="0" tIns="0" rIns="0" bIns="0" rtlCol="0" anchor="t"/>
          <a:lstStyle/>
          <a:p>
            <a:pPr indent="0" marL="0">
              <a:buNone/>
            </a:pPr>
            <a:r>
              <a:rPr lang="en-US" sz="2200" b="1" dirty="0">
                <a:solidFill>
                  <a:schemeClr val="tx2"/>
                </a:solidFill>
              </a:rPr>
              <a:t>Log in</a:t>
            </a:r>
            <a:endParaRPr lang="en-US" sz="2200" dirty="0"/>
          </a:p>
        </p:txBody>
      </p:sp>
      <p:sp>
        <p:nvSpPr>
          <p:cNvPr id="8" name="Text 5"/>
          <p:cNvSpPr txBox="1"/>
          <p:nvPr/>
        </p:nvSpPr>
        <p:spPr>
          <a:xfrm>
            <a:off x="4892040" y="1874520"/>
            <a:ext cx="6583680" cy="685800"/>
          </a:xfrm>
          <a:prstGeom prst="rect">
            <a:avLst/>
          </a:prstGeom>
          <a:noFill/>
          <a:ln/>
        </p:spPr>
        <p:txBody>
          <a:bodyPr wrap="square" lIns="0" tIns="0" rIns="0" bIns="0" rtlCol="0" anchor="t"/>
          <a:lstStyle/>
          <a:p>
            <a:pPr indent="0" marL="0">
              <a:buNone/>
            </a:pPr>
            <a:r>
              <a:rPr lang="en-US" sz="1600" dirty="0">
                <a:solidFill>
                  <a:schemeClr val="tx1"/>
                </a:solidFill>
              </a:rPr>
              <a:t>Use the username and password your coordinator gives you.</a:t>
            </a:r>
            <a:endParaRPr lang="en-US" sz="1600" dirty="0"/>
          </a:p>
        </p:txBody>
      </p:sp>
      <p:sp>
        <p:nvSpPr>
          <p:cNvPr id="9" name="how 2 circle"/>
          <p:cNvSpPr/>
          <p:nvPr/>
        </p:nvSpPr>
        <p:spPr>
          <a:xfrm>
            <a:off x="3931920" y="2788920"/>
            <a:ext cx="685800" cy="685800"/>
          </a:xfrm>
          <a:prstGeom prst="ellipse">
            <a:avLst/>
          </a:prstGeom>
          <a:solidFill>
            <a:schemeClr val="accent1"/>
          </a:solidFill>
          <a:ln w="12700">
            <a:solidFill>
              <a:schemeClr val="accent1"/>
            </a:solidFill>
            <a:prstDash val="solid"/>
          </a:ln>
        </p:spPr>
      </p:sp>
      <p:sp>
        <p:nvSpPr>
          <p:cNvPr id="10" name="how 2 number"/>
          <p:cNvSpPr txBox="1"/>
          <p:nvPr/>
        </p:nvSpPr>
        <p:spPr>
          <a:xfrm>
            <a:off x="3931920" y="278892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 8"/>
          <p:cNvSpPr txBox="1"/>
          <p:nvPr/>
        </p:nvSpPr>
        <p:spPr>
          <a:xfrm>
            <a:off x="4892040" y="2770632"/>
            <a:ext cx="6583680" cy="411480"/>
          </a:xfrm>
          <a:prstGeom prst="rect">
            <a:avLst/>
          </a:prstGeom>
          <a:noFill/>
          <a:ln/>
        </p:spPr>
        <p:txBody>
          <a:bodyPr wrap="square" lIns="0" tIns="0" rIns="0" bIns="0" rtlCol="0" anchor="t"/>
          <a:lstStyle/>
          <a:p>
            <a:pPr indent="0" marL="0">
              <a:buNone/>
            </a:pPr>
            <a:r>
              <a:rPr lang="en-US" sz="2200" b="1" dirty="0">
                <a:solidFill>
                  <a:schemeClr val="tx2"/>
                </a:solidFill>
              </a:rPr>
              <a:t>Tap Call</a:t>
            </a:r>
            <a:endParaRPr lang="en-US" sz="2200" dirty="0"/>
          </a:p>
        </p:txBody>
      </p:sp>
      <p:sp>
        <p:nvSpPr>
          <p:cNvPr id="12" name="Text 9"/>
          <p:cNvSpPr txBox="1"/>
          <p:nvPr/>
        </p:nvSpPr>
        <p:spPr>
          <a:xfrm>
            <a:off x="4892040" y="3200400"/>
            <a:ext cx="6583680" cy="685800"/>
          </a:xfrm>
          <a:prstGeom prst="rect">
            <a:avLst/>
          </a:prstGeom>
          <a:noFill/>
          <a:ln/>
        </p:spPr>
        <p:txBody>
          <a:bodyPr wrap="square" lIns="0" tIns="0" rIns="0" bIns="0" rtlCol="0" anchor="t"/>
          <a:lstStyle/>
          <a:p>
            <a:pPr indent="0" marL="0">
              <a:buNone/>
            </a:pPr>
            <a:r>
              <a:rPr lang="en-US" sz="1600" dirty="0">
                <a:solidFill>
                  <a:schemeClr val="tx1"/>
                </a:solidFill>
              </a:rPr>
              <a:t>The green button dials the Saint's number for you.</a:t>
            </a:r>
            <a:endParaRPr lang="en-US" sz="1600" dirty="0"/>
          </a:p>
        </p:txBody>
      </p:sp>
      <p:sp>
        <p:nvSpPr>
          <p:cNvPr id="13" name="how 3 circle"/>
          <p:cNvSpPr/>
          <p:nvPr/>
        </p:nvSpPr>
        <p:spPr>
          <a:xfrm>
            <a:off x="3931920" y="4114800"/>
            <a:ext cx="685800" cy="685800"/>
          </a:xfrm>
          <a:prstGeom prst="ellipse">
            <a:avLst/>
          </a:prstGeom>
          <a:solidFill>
            <a:schemeClr val="accent1"/>
          </a:solidFill>
          <a:ln w="12700">
            <a:solidFill>
              <a:schemeClr val="accent1"/>
            </a:solidFill>
            <a:prstDash val="solid"/>
          </a:ln>
        </p:spPr>
      </p:sp>
      <p:sp>
        <p:nvSpPr>
          <p:cNvPr id="14" name="how 3 number"/>
          <p:cNvSpPr txBox="1"/>
          <p:nvPr/>
        </p:nvSpPr>
        <p:spPr>
          <a:xfrm>
            <a:off x="3931920" y="411480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Text 12"/>
          <p:cNvSpPr txBox="1"/>
          <p:nvPr/>
        </p:nvSpPr>
        <p:spPr>
          <a:xfrm>
            <a:off x="4892040" y="4096512"/>
            <a:ext cx="6583680" cy="411480"/>
          </a:xfrm>
          <a:prstGeom prst="rect">
            <a:avLst/>
          </a:prstGeom>
          <a:noFill/>
          <a:ln/>
        </p:spPr>
        <p:txBody>
          <a:bodyPr wrap="square" lIns="0" tIns="0" rIns="0" bIns="0" rtlCol="0" anchor="t"/>
          <a:lstStyle/>
          <a:p>
            <a:pPr indent="0" marL="0">
              <a:buNone/>
            </a:pPr>
            <a:r>
              <a:rPr lang="en-US" sz="2200" b="1" dirty="0">
                <a:solidFill>
                  <a:schemeClr val="tx2"/>
                </a:solidFill>
              </a:rPr>
              <a:t>Tap the result</a:t>
            </a:r>
            <a:endParaRPr lang="en-US" sz="2200" dirty="0"/>
          </a:p>
        </p:txBody>
      </p:sp>
      <p:sp>
        <p:nvSpPr>
          <p:cNvPr id="16" name="Text 13"/>
          <p:cNvSpPr txBox="1"/>
          <p:nvPr/>
        </p:nvSpPr>
        <p:spPr>
          <a:xfrm>
            <a:off x="4892040" y="4526280"/>
            <a:ext cx="6583680" cy="685800"/>
          </a:xfrm>
          <a:prstGeom prst="rect">
            <a:avLst/>
          </a:prstGeom>
          <a:noFill/>
          <a:ln/>
        </p:spPr>
        <p:txBody>
          <a:bodyPr wrap="square" lIns="0" tIns="0" rIns="0" bIns="0" rtlCol="0" anchor="t"/>
          <a:lstStyle/>
          <a:p>
            <a:pPr indent="0" marL="0">
              <a:buNone/>
            </a:pPr>
            <a:r>
              <a:rPr lang="en-US" sz="1600" dirty="0">
                <a:solidFill>
                  <a:schemeClr val="tx1"/>
                </a:solidFill>
              </a:rPr>
              <a:t>Right after the call, tap one of the four buttons. It is saved straight away.</a:t>
            </a:r>
            <a:endParaRPr lang="en-US" sz="1600" dirty="0"/>
          </a:p>
        </p:txBody>
      </p:sp>
      <p:sp>
        <p:nvSpPr>
          <p:cNvPr id="17" name="tip card"/>
          <p:cNvSpPr/>
          <p:nvPr/>
        </p:nvSpPr>
        <p:spPr>
          <a:xfrm>
            <a:off x="3931920" y="5440680"/>
            <a:ext cx="7680960" cy="685800"/>
          </a:xfrm>
          <a:prstGeom prst="roundRect">
            <a:avLst>
              <a:gd name="adj" fmla="val 16000"/>
            </a:avLst>
          </a:prstGeom>
          <a:solidFill>
            <a:srgbClr val="E6F4F2"/>
          </a:solidFill>
          <a:ln w="12700">
            <a:solidFill>
              <a:srgbClr val="E6F4F2"/>
            </a:solidFill>
            <a:prstDash val="solid"/>
          </a:ln>
        </p:spPr>
      </p:sp>
      <p:sp>
        <p:nvSpPr>
          <p:cNvPr id="18" name="Text 15"/>
          <p:cNvSpPr txBox="1"/>
          <p:nvPr/>
        </p:nvSpPr>
        <p:spPr>
          <a:xfrm>
            <a:off x="4160520" y="5504688"/>
            <a:ext cx="7315200" cy="548640"/>
          </a:xfrm>
          <a:prstGeom prst="rect">
            <a:avLst/>
          </a:prstGeom>
          <a:noFill/>
          <a:ln/>
        </p:spPr>
        <p:txBody>
          <a:bodyPr wrap="square" lIns="0" tIns="0" rIns="0" bIns="0" rtlCol="0" anchor="ctr"/>
          <a:lstStyle/>
          <a:p>
            <a:pPr indent="0" marL="0">
              <a:buNone/>
            </a:pPr>
            <a:r>
              <a:rPr lang="en-US" sz="1600" dirty="0">
                <a:solidFill>
                  <a:schemeClr val="tx2"/>
                </a:solidFill>
              </a:rPr>
              <a:t>Pending calls are at the top. The numbers show Saints, Done, Pending and Yes.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Four buttons, after every call</a:t>
            </a:r>
            <a:endParaRPr lang="en-US" sz="3600" dirty="0"/>
          </a:p>
        </p:txBody>
      </p:sp>
      <p:sp>
        <p:nvSpPr>
          <p:cNvPr id="3" name="Yes card"/>
          <p:cNvSpPr/>
          <p:nvPr/>
        </p:nvSpPr>
        <p:spPr>
          <a:xfrm>
            <a:off x="548640" y="1371600"/>
            <a:ext cx="5440680" cy="1691640"/>
          </a:xfrm>
          <a:prstGeom prst="roundRect">
            <a:avLst>
              <a:gd name="adj" fmla="val 6486"/>
            </a:avLst>
          </a:prstGeom>
          <a:solidFill>
            <a:schemeClr val="bg2"/>
          </a:solidFill>
          <a:ln w="12700">
            <a:solidFill>
              <a:schemeClr val="bg2"/>
            </a:solidFill>
            <a:prstDash val="solid"/>
          </a:ln>
        </p:spPr>
      </p:sp>
      <p:sp>
        <p:nvSpPr>
          <p:cNvPr id="4" name="Yes circle"/>
          <p:cNvSpPr/>
          <p:nvPr/>
        </p:nvSpPr>
        <p:spPr>
          <a:xfrm>
            <a:off x="868680" y="1783080"/>
            <a:ext cx="868680" cy="868680"/>
          </a:xfrm>
          <a:prstGeom prst="ellipse">
            <a:avLst/>
          </a:prstGeom>
          <a:solidFill>
            <a:schemeClr val="accent3"/>
          </a:solidFill>
          <a:ln w="12700">
            <a:solidFill>
              <a:schemeClr val="accent3"/>
            </a:solidFill>
            <a:prstDash val="solid"/>
          </a:ln>
        </p:spPr>
      </p:sp>
      <p:pic>
        <p:nvPicPr>
          <p:cNvPr id="5" name="Yes" descr="preencoded.png">    </p:cNvPr>
          <p:cNvPicPr>
            <a:picLocks noChangeAspect="1"/>
          </p:cNvPicPr>
          <p:nvPr/>
        </p:nvPicPr>
        <p:blipFill>
          <a:blip r:embed="rId1"/>
          <a:stretch>
            <a:fillRect/>
          </a:stretch>
        </p:blipFill>
        <p:spPr>
          <a:xfrm>
            <a:off x="1059790" y="1974190"/>
            <a:ext cx="486461" cy="486461"/>
          </a:xfrm>
          <a:prstGeom prst="rect">
            <a:avLst/>
          </a:prstGeom>
        </p:spPr>
      </p:pic>
      <p:sp>
        <p:nvSpPr>
          <p:cNvPr id="6" name="Text 3"/>
          <p:cNvSpPr txBox="1"/>
          <p:nvPr/>
        </p:nvSpPr>
        <p:spPr>
          <a:xfrm>
            <a:off x="1965960" y="1691640"/>
            <a:ext cx="3840480" cy="502920"/>
          </a:xfrm>
          <a:prstGeom prst="rect">
            <a:avLst/>
          </a:prstGeom>
          <a:noFill/>
          <a:ln/>
        </p:spPr>
        <p:txBody>
          <a:bodyPr wrap="square" lIns="0" tIns="0" rIns="0" bIns="0" rtlCol="0" anchor="t"/>
          <a:lstStyle/>
          <a:p>
            <a:pPr indent="0" marL="0">
              <a:buNone/>
            </a:pPr>
            <a:r>
              <a:rPr lang="en-US" sz="2400" b="1" dirty="0">
                <a:solidFill>
                  <a:schemeClr val="tx2"/>
                </a:solidFill>
              </a:rPr>
              <a:t>Yes</a:t>
            </a:r>
            <a:endParaRPr lang="en-US" sz="2400" dirty="0"/>
          </a:p>
        </p:txBody>
      </p:sp>
      <p:sp>
        <p:nvSpPr>
          <p:cNvPr id="7" name="Text 4"/>
          <p:cNvSpPr txBox="1"/>
          <p:nvPr/>
        </p:nvSpPr>
        <p:spPr>
          <a:xfrm>
            <a:off x="1965960" y="2212848"/>
            <a:ext cx="3840480" cy="731520"/>
          </a:xfrm>
          <a:prstGeom prst="rect">
            <a:avLst/>
          </a:prstGeom>
          <a:noFill/>
          <a:ln/>
        </p:spPr>
        <p:txBody>
          <a:bodyPr wrap="square" lIns="0" tIns="0" rIns="0" bIns="0" rtlCol="0" anchor="t"/>
          <a:lstStyle/>
          <a:p>
            <a:pPr indent="0" marL="0">
              <a:buNone/>
            </a:pPr>
            <a:r>
              <a:rPr lang="en-US" sz="1600" dirty="0">
                <a:solidFill>
                  <a:schemeClr val="tx1"/>
                </a:solidFill>
              </a:rPr>
              <a:t>They will come to the EMS Congregation.</a:t>
            </a:r>
            <a:endParaRPr lang="en-US" sz="1600" dirty="0"/>
          </a:p>
        </p:txBody>
      </p:sp>
      <p:sp>
        <p:nvSpPr>
          <p:cNvPr id="8" name="Not Possible card"/>
          <p:cNvSpPr/>
          <p:nvPr/>
        </p:nvSpPr>
        <p:spPr>
          <a:xfrm>
            <a:off x="6172200" y="1371600"/>
            <a:ext cx="5440680" cy="1691640"/>
          </a:xfrm>
          <a:prstGeom prst="roundRect">
            <a:avLst>
              <a:gd name="adj" fmla="val 6486"/>
            </a:avLst>
          </a:prstGeom>
          <a:solidFill>
            <a:schemeClr val="bg2"/>
          </a:solidFill>
          <a:ln w="12700">
            <a:solidFill>
              <a:schemeClr val="bg2"/>
            </a:solidFill>
            <a:prstDash val="solid"/>
          </a:ln>
        </p:spPr>
      </p:sp>
      <p:sp>
        <p:nvSpPr>
          <p:cNvPr id="9" name="Not Possible circle"/>
          <p:cNvSpPr/>
          <p:nvPr/>
        </p:nvSpPr>
        <p:spPr>
          <a:xfrm>
            <a:off x="6492240" y="1783080"/>
            <a:ext cx="868680" cy="868680"/>
          </a:xfrm>
          <a:prstGeom prst="ellipse">
            <a:avLst/>
          </a:prstGeom>
          <a:solidFill>
            <a:schemeClr val="accent4"/>
          </a:solidFill>
          <a:ln w="12700">
            <a:solidFill>
              <a:schemeClr val="accent4"/>
            </a:solidFill>
            <a:prstDash val="solid"/>
          </a:ln>
        </p:spPr>
      </p:sp>
      <p:pic>
        <p:nvPicPr>
          <p:cNvPr id="10" name="Not Possible" descr="preencoded.png">    </p:cNvPr>
          <p:cNvPicPr>
            <a:picLocks noChangeAspect="1"/>
          </p:cNvPicPr>
          <p:nvPr/>
        </p:nvPicPr>
        <p:blipFill>
          <a:blip r:embed="rId2"/>
          <a:stretch>
            <a:fillRect/>
          </a:stretch>
        </p:blipFill>
        <p:spPr>
          <a:xfrm>
            <a:off x="6683350" y="1974190"/>
            <a:ext cx="486461" cy="486461"/>
          </a:xfrm>
          <a:prstGeom prst="rect">
            <a:avLst/>
          </a:prstGeom>
        </p:spPr>
      </p:pic>
      <p:sp>
        <p:nvSpPr>
          <p:cNvPr id="11" name="Text 7"/>
          <p:cNvSpPr txBox="1"/>
          <p:nvPr/>
        </p:nvSpPr>
        <p:spPr>
          <a:xfrm>
            <a:off x="7589520" y="1691640"/>
            <a:ext cx="3840480" cy="502920"/>
          </a:xfrm>
          <a:prstGeom prst="rect">
            <a:avLst/>
          </a:prstGeom>
          <a:noFill/>
          <a:ln/>
        </p:spPr>
        <p:txBody>
          <a:bodyPr wrap="square" lIns="0" tIns="0" rIns="0" bIns="0" rtlCol="0" anchor="t"/>
          <a:lstStyle/>
          <a:p>
            <a:pPr indent="0" marL="0">
              <a:buNone/>
            </a:pPr>
            <a:r>
              <a:rPr lang="en-US" sz="2400" b="1" dirty="0">
                <a:solidFill>
                  <a:schemeClr val="tx2"/>
                </a:solidFill>
              </a:rPr>
              <a:t>Not Possible</a:t>
            </a:r>
            <a:endParaRPr lang="en-US" sz="2400" dirty="0"/>
          </a:p>
        </p:txBody>
      </p:sp>
      <p:sp>
        <p:nvSpPr>
          <p:cNvPr id="12" name="Text 8"/>
          <p:cNvSpPr txBox="1"/>
          <p:nvPr/>
        </p:nvSpPr>
        <p:spPr>
          <a:xfrm>
            <a:off x="7589520" y="2212848"/>
            <a:ext cx="3840480" cy="731520"/>
          </a:xfrm>
          <a:prstGeom prst="rect">
            <a:avLst/>
          </a:prstGeom>
          <a:noFill/>
          <a:ln/>
        </p:spPr>
        <p:txBody>
          <a:bodyPr wrap="square" lIns="0" tIns="0" rIns="0" bIns="0" rtlCol="0" anchor="t"/>
          <a:lstStyle/>
          <a:p>
            <a:pPr indent="0" marL="0">
              <a:buNone/>
            </a:pPr>
            <a:r>
              <a:rPr lang="en-US" sz="1600" dirty="0">
                <a:solidFill>
                  <a:schemeClr val="tx1"/>
                </a:solidFill>
              </a:rPr>
              <a:t>They said they cannot come.</a:t>
            </a:r>
            <a:endParaRPr lang="en-US" sz="1600" dirty="0"/>
          </a:p>
        </p:txBody>
      </p:sp>
      <p:sp>
        <p:nvSpPr>
          <p:cNvPr id="13" name="Will Try card"/>
          <p:cNvSpPr/>
          <p:nvPr/>
        </p:nvSpPr>
        <p:spPr>
          <a:xfrm>
            <a:off x="548640" y="3291840"/>
            <a:ext cx="5440680" cy="1691640"/>
          </a:xfrm>
          <a:prstGeom prst="roundRect">
            <a:avLst>
              <a:gd name="adj" fmla="val 6486"/>
            </a:avLst>
          </a:prstGeom>
          <a:solidFill>
            <a:schemeClr val="bg2"/>
          </a:solidFill>
          <a:ln w="12700">
            <a:solidFill>
              <a:schemeClr val="bg2"/>
            </a:solidFill>
            <a:prstDash val="solid"/>
          </a:ln>
        </p:spPr>
      </p:sp>
      <p:sp>
        <p:nvSpPr>
          <p:cNvPr id="14" name="Will Try circle"/>
          <p:cNvSpPr/>
          <p:nvPr/>
        </p:nvSpPr>
        <p:spPr>
          <a:xfrm>
            <a:off x="868680" y="3703320"/>
            <a:ext cx="868680" cy="868680"/>
          </a:xfrm>
          <a:prstGeom prst="ellipse">
            <a:avLst/>
          </a:prstGeom>
          <a:solidFill>
            <a:schemeClr val="accent5"/>
          </a:solidFill>
          <a:ln w="12700">
            <a:solidFill>
              <a:schemeClr val="accent5"/>
            </a:solidFill>
            <a:prstDash val="solid"/>
          </a:ln>
        </p:spPr>
      </p:sp>
      <p:pic>
        <p:nvPicPr>
          <p:cNvPr id="15" name="Will Try" descr="preencoded.png">    </p:cNvPr>
          <p:cNvPicPr>
            <a:picLocks noChangeAspect="1"/>
          </p:cNvPicPr>
          <p:nvPr/>
        </p:nvPicPr>
        <p:blipFill>
          <a:blip r:embed="rId3"/>
          <a:stretch>
            <a:fillRect/>
          </a:stretch>
        </p:blipFill>
        <p:spPr>
          <a:xfrm>
            <a:off x="1059790" y="3894430"/>
            <a:ext cx="486461" cy="486461"/>
          </a:xfrm>
          <a:prstGeom prst="rect">
            <a:avLst/>
          </a:prstGeom>
        </p:spPr>
      </p:pic>
      <p:sp>
        <p:nvSpPr>
          <p:cNvPr id="16" name="Text 11"/>
          <p:cNvSpPr txBox="1"/>
          <p:nvPr/>
        </p:nvSpPr>
        <p:spPr>
          <a:xfrm>
            <a:off x="1965960" y="3611880"/>
            <a:ext cx="3840480" cy="502920"/>
          </a:xfrm>
          <a:prstGeom prst="rect">
            <a:avLst/>
          </a:prstGeom>
          <a:noFill/>
          <a:ln/>
        </p:spPr>
        <p:txBody>
          <a:bodyPr wrap="square" lIns="0" tIns="0" rIns="0" bIns="0" rtlCol="0" anchor="t"/>
          <a:lstStyle/>
          <a:p>
            <a:pPr indent="0" marL="0">
              <a:buNone/>
            </a:pPr>
            <a:r>
              <a:rPr lang="en-US" sz="2400" b="1" dirty="0">
                <a:solidFill>
                  <a:schemeClr val="tx2"/>
                </a:solidFill>
              </a:rPr>
              <a:t>Will Try</a:t>
            </a:r>
            <a:endParaRPr lang="en-US" sz="2400" dirty="0"/>
          </a:p>
        </p:txBody>
      </p:sp>
      <p:sp>
        <p:nvSpPr>
          <p:cNvPr id="17" name="Text 12"/>
          <p:cNvSpPr txBox="1"/>
          <p:nvPr/>
        </p:nvSpPr>
        <p:spPr>
          <a:xfrm>
            <a:off x="1965960" y="4133088"/>
            <a:ext cx="3840480" cy="731520"/>
          </a:xfrm>
          <a:prstGeom prst="rect">
            <a:avLst/>
          </a:prstGeom>
          <a:noFill/>
          <a:ln/>
        </p:spPr>
        <p:txBody>
          <a:bodyPr wrap="square" lIns="0" tIns="0" rIns="0" bIns="0" rtlCol="0" anchor="t"/>
          <a:lstStyle/>
          <a:p>
            <a:pPr indent="0" marL="0">
              <a:buNone/>
            </a:pPr>
            <a:r>
              <a:rPr lang="en-US" sz="1600" dirty="0">
                <a:solidFill>
                  <a:schemeClr val="tx1"/>
                </a:solidFill>
              </a:rPr>
              <a:t>They are not sure. Not counted as a Yes.</a:t>
            </a:r>
            <a:endParaRPr lang="en-US" sz="1600" dirty="0"/>
          </a:p>
        </p:txBody>
      </p:sp>
      <p:sp>
        <p:nvSpPr>
          <p:cNvPr id="18" name="Call Not Connected card"/>
          <p:cNvSpPr/>
          <p:nvPr/>
        </p:nvSpPr>
        <p:spPr>
          <a:xfrm>
            <a:off x="6172200" y="3291840"/>
            <a:ext cx="5440680" cy="1691640"/>
          </a:xfrm>
          <a:prstGeom prst="roundRect">
            <a:avLst>
              <a:gd name="adj" fmla="val 6486"/>
            </a:avLst>
          </a:prstGeom>
          <a:solidFill>
            <a:schemeClr val="bg2"/>
          </a:solidFill>
          <a:ln w="12700">
            <a:solidFill>
              <a:schemeClr val="bg2"/>
            </a:solidFill>
            <a:prstDash val="solid"/>
          </a:ln>
        </p:spPr>
      </p:sp>
      <p:sp>
        <p:nvSpPr>
          <p:cNvPr id="19" name="Call Not Connected circle"/>
          <p:cNvSpPr/>
          <p:nvPr/>
        </p:nvSpPr>
        <p:spPr>
          <a:xfrm>
            <a:off x="6492240" y="3703320"/>
            <a:ext cx="868680" cy="868680"/>
          </a:xfrm>
          <a:prstGeom prst="ellipse">
            <a:avLst/>
          </a:prstGeom>
          <a:solidFill>
            <a:schemeClr val="accent6"/>
          </a:solidFill>
          <a:ln w="12700">
            <a:solidFill>
              <a:schemeClr val="accent6"/>
            </a:solidFill>
            <a:prstDash val="solid"/>
          </a:ln>
        </p:spPr>
      </p:sp>
      <p:pic>
        <p:nvPicPr>
          <p:cNvPr id="20" name="Call Not Connected" descr="preencoded.png">    </p:cNvPr>
          <p:cNvPicPr>
            <a:picLocks noChangeAspect="1"/>
          </p:cNvPicPr>
          <p:nvPr/>
        </p:nvPicPr>
        <p:blipFill>
          <a:blip r:embed="rId4"/>
          <a:stretch>
            <a:fillRect/>
          </a:stretch>
        </p:blipFill>
        <p:spPr>
          <a:xfrm>
            <a:off x="6683350" y="3894430"/>
            <a:ext cx="486461" cy="486461"/>
          </a:xfrm>
          <a:prstGeom prst="rect">
            <a:avLst/>
          </a:prstGeom>
        </p:spPr>
      </p:pic>
      <p:sp>
        <p:nvSpPr>
          <p:cNvPr id="21" name="Text 15"/>
          <p:cNvSpPr txBox="1"/>
          <p:nvPr/>
        </p:nvSpPr>
        <p:spPr>
          <a:xfrm>
            <a:off x="7589520" y="3611880"/>
            <a:ext cx="3840480" cy="502920"/>
          </a:xfrm>
          <a:prstGeom prst="rect">
            <a:avLst/>
          </a:prstGeom>
          <a:noFill/>
          <a:ln/>
        </p:spPr>
        <p:txBody>
          <a:bodyPr wrap="square" lIns="0" tIns="0" rIns="0" bIns="0" rtlCol="0" anchor="t"/>
          <a:lstStyle/>
          <a:p>
            <a:pPr indent="0" marL="0">
              <a:buNone/>
            </a:pPr>
            <a:r>
              <a:rPr lang="en-US" sz="2400" b="1" dirty="0">
                <a:solidFill>
                  <a:schemeClr val="tx2"/>
                </a:solidFill>
              </a:rPr>
              <a:t>Call Not Connected</a:t>
            </a:r>
            <a:endParaRPr lang="en-US" sz="2400" dirty="0"/>
          </a:p>
        </p:txBody>
      </p:sp>
      <p:sp>
        <p:nvSpPr>
          <p:cNvPr id="22" name="Text 16"/>
          <p:cNvSpPr txBox="1"/>
          <p:nvPr/>
        </p:nvSpPr>
        <p:spPr>
          <a:xfrm>
            <a:off x="7589520" y="4133088"/>
            <a:ext cx="3840480" cy="731520"/>
          </a:xfrm>
          <a:prstGeom prst="rect">
            <a:avLst/>
          </a:prstGeom>
          <a:noFill/>
          <a:ln/>
        </p:spPr>
        <p:txBody>
          <a:bodyPr wrap="square" lIns="0" tIns="0" rIns="0" bIns="0" rtlCol="0" anchor="t"/>
          <a:lstStyle/>
          <a:p>
            <a:pPr indent="0" marL="0">
              <a:buNone/>
            </a:pPr>
            <a:r>
              <a:rPr lang="en-US" sz="1600" dirty="0">
                <a:solidFill>
                  <a:schemeClr val="tx1"/>
                </a:solidFill>
              </a:rPr>
              <a:t>No answer, switched off or busy. Try again later.</a:t>
            </a:r>
            <a:endParaRPr lang="en-US" sz="1600" dirty="0"/>
          </a:p>
        </p:txBody>
      </p:sp>
      <p:sp>
        <p:nvSpPr>
          <p:cNvPr id="23" name="Text 17"/>
          <p:cNvSpPr txBox="1"/>
          <p:nvPr/>
        </p:nvSpPr>
        <p:spPr>
          <a:xfrm>
            <a:off x="548640" y="5394960"/>
            <a:ext cx="11064240" cy="548640"/>
          </a:xfrm>
          <a:prstGeom prst="rect">
            <a:avLst/>
          </a:prstGeom>
          <a:noFill/>
          <a:ln/>
        </p:spPr>
        <p:txBody>
          <a:bodyPr wrap="square" lIns="0" tIns="0" rIns="0" bIns="0" rtlCol="0" anchor="t"/>
          <a:lstStyle/>
          <a:p>
            <a:pPr indent="0" marL="0">
              <a:buNone/>
            </a:pPr>
            <a:r>
              <a:rPr lang="en-US" sz="1800" b="1" dirty="0">
                <a:solidFill>
                  <a:schemeClr val="accent1"/>
                </a:solidFill>
              </a:rPr>
              <a:t>Called again later? Just tap the new result: the latest one counts, and earlier ones stay in the history.</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Good habits</a:t>
            </a:r>
            <a:endParaRPr lang="en-US" sz="3600" dirty="0"/>
          </a:p>
        </p:txBody>
      </p:sp>
      <p:sp>
        <p:nvSpPr>
          <p:cNvPr id="3" name="Add it to your home screen circle"/>
          <p:cNvSpPr/>
          <p:nvPr/>
        </p:nvSpPr>
        <p:spPr>
          <a:xfrm>
            <a:off x="548640" y="1463040"/>
            <a:ext cx="777240" cy="777240"/>
          </a:xfrm>
          <a:prstGeom prst="ellipse">
            <a:avLst/>
          </a:prstGeom>
          <a:solidFill>
            <a:schemeClr val="accent1"/>
          </a:solidFill>
          <a:ln w="12700">
            <a:solidFill>
              <a:schemeClr val="accent1"/>
            </a:solidFill>
            <a:prstDash val="solid"/>
          </a:ln>
        </p:spPr>
      </p:sp>
      <p:pic>
        <p:nvPicPr>
          <p:cNvPr id="4" name="Add it to your home screen" descr="preencoded.png">    </p:cNvPr>
          <p:cNvPicPr>
            <a:picLocks noChangeAspect="1"/>
          </p:cNvPicPr>
          <p:nvPr/>
        </p:nvPicPr>
        <p:blipFill>
          <a:blip r:embed="rId1"/>
          <a:stretch>
            <a:fillRect/>
          </a:stretch>
        </p:blipFill>
        <p:spPr>
          <a:xfrm>
            <a:off x="719633" y="1634033"/>
            <a:ext cx="435254" cy="435254"/>
          </a:xfrm>
          <a:prstGeom prst="rect">
            <a:avLst/>
          </a:prstGeom>
        </p:spPr>
      </p:pic>
      <p:sp>
        <p:nvSpPr>
          <p:cNvPr id="5" name="Text 2"/>
          <p:cNvSpPr txBox="1"/>
          <p:nvPr/>
        </p:nvSpPr>
        <p:spPr>
          <a:xfrm>
            <a:off x="1554480" y="1444752"/>
            <a:ext cx="4434840" cy="457200"/>
          </a:xfrm>
          <a:prstGeom prst="rect">
            <a:avLst/>
          </a:prstGeom>
          <a:noFill/>
          <a:ln/>
        </p:spPr>
        <p:txBody>
          <a:bodyPr wrap="square" lIns="0" tIns="0" rIns="0" bIns="0" rtlCol="0" anchor="t"/>
          <a:lstStyle/>
          <a:p>
            <a:pPr indent="0" marL="0">
              <a:buNone/>
            </a:pPr>
            <a:r>
              <a:rPr lang="en-US" sz="2200" b="1" dirty="0">
                <a:solidFill>
                  <a:schemeClr val="tx2"/>
                </a:solidFill>
              </a:rPr>
              <a:t>Add it to your home screen</a:t>
            </a:r>
            <a:endParaRPr lang="en-US" sz="2200" dirty="0"/>
          </a:p>
        </p:txBody>
      </p:sp>
      <p:sp>
        <p:nvSpPr>
          <p:cNvPr id="6" name="Text 3"/>
          <p:cNvSpPr txBox="1"/>
          <p:nvPr/>
        </p:nvSpPr>
        <p:spPr>
          <a:xfrm>
            <a:off x="1554480" y="1920240"/>
            <a:ext cx="4434840" cy="1005840"/>
          </a:xfrm>
          <a:prstGeom prst="rect">
            <a:avLst/>
          </a:prstGeom>
          <a:noFill/>
          <a:ln/>
        </p:spPr>
        <p:txBody>
          <a:bodyPr wrap="square" lIns="0" tIns="0" rIns="0" bIns="0" rtlCol="0" anchor="t"/>
          <a:lstStyle/>
          <a:p>
            <a:pPr indent="0" marL="0">
              <a:buNone/>
            </a:pPr>
            <a:r>
              <a:rPr lang="en-US" sz="1600" dirty="0">
                <a:solidFill>
                  <a:schemeClr val="tx1"/>
                </a:solidFill>
              </a:rPr>
              <a:t>In Chrome: menu, then Add to Home screen. It opens like an app.</a:t>
            </a:r>
            <a:endParaRPr lang="en-US" sz="1600" dirty="0"/>
          </a:p>
        </p:txBody>
      </p:sp>
      <p:sp>
        <p:nvSpPr>
          <p:cNvPr id="7" name="Notes and call-back times circle"/>
          <p:cNvSpPr/>
          <p:nvPr/>
        </p:nvSpPr>
        <p:spPr>
          <a:xfrm>
            <a:off x="6172200" y="1463040"/>
            <a:ext cx="777240" cy="777240"/>
          </a:xfrm>
          <a:prstGeom prst="ellipse">
            <a:avLst/>
          </a:prstGeom>
          <a:solidFill>
            <a:schemeClr val="accent1"/>
          </a:solidFill>
          <a:ln w="12700">
            <a:solidFill>
              <a:schemeClr val="accent1"/>
            </a:solidFill>
            <a:prstDash val="solid"/>
          </a:ln>
        </p:spPr>
      </p:sp>
      <p:pic>
        <p:nvPicPr>
          <p:cNvPr id="8" name="Notes and call-back times" descr="preencoded.png">    </p:cNvPr>
          <p:cNvPicPr>
            <a:picLocks noChangeAspect="1"/>
          </p:cNvPicPr>
          <p:nvPr/>
        </p:nvPicPr>
        <p:blipFill>
          <a:blip r:embed="rId2"/>
          <a:stretch>
            <a:fillRect/>
          </a:stretch>
        </p:blipFill>
        <p:spPr>
          <a:xfrm>
            <a:off x="6343193" y="1634033"/>
            <a:ext cx="435254" cy="435254"/>
          </a:xfrm>
          <a:prstGeom prst="rect">
            <a:avLst/>
          </a:prstGeom>
        </p:spPr>
      </p:pic>
      <p:sp>
        <p:nvSpPr>
          <p:cNvPr id="9" name="Text 5"/>
          <p:cNvSpPr txBox="1"/>
          <p:nvPr/>
        </p:nvSpPr>
        <p:spPr>
          <a:xfrm>
            <a:off x="7178040" y="1444752"/>
            <a:ext cx="4434840" cy="457200"/>
          </a:xfrm>
          <a:prstGeom prst="rect">
            <a:avLst/>
          </a:prstGeom>
          <a:noFill/>
          <a:ln/>
        </p:spPr>
        <p:txBody>
          <a:bodyPr wrap="square" lIns="0" tIns="0" rIns="0" bIns="0" rtlCol="0" anchor="t"/>
          <a:lstStyle/>
          <a:p>
            <a:pPr indent="0" marL="0">
              <a:buNone/>
            </a:pPr>
            <a:r>
              <a:rPr lang="en-US" sz="2200" b="1" dirty="0">
                <a:solidFill>
                  <a:schemeClr val="tx2"/>
                </a:solidFill>
              </a:rPr>
              <a:t>Notes and call-back times</a:t>
            </a:r>
            <a:endParaRPr lang="en-US" sz="2200" dirty="0"/>
          </a:p>
        </p:txBody>
      </p:sp>
      <p:sp>
        <p:nvSpPr>
          <p:cNvPr id="10" name="Text 6"/>
          <p:cNvSpPr txBox="1"/>
          <p:nvPr/>
        </p:nvSpPr>
        <p:spPr>
          <a:xfrm>
            <a:off x="7178040" y="1920240"/>
            <a:ext cx="4434840" cy="1005840"/>
          </a:xfrm>
          <a:prstGeom prst="rect">
            <a:avLst/>
          </a:prstGeom>
          <a:noFill/>
          <a:ln/>
        </p:spPr>
        <p:txBody>
          <a:bodyPr wrap="square" lIns="0" tIns="0" rIns="0" bIns="0" rtlCol="0" anchor="t"/>
          <a:lstStyle/>
          <a:p>
            <a:pPr indent="0" marL="0">
              <a:buNone/>
            </a:pPr>
            <a:r>
              <a:rPr lang="en-US" sz="1600" dirty="0">
                <a:solidFill>
                  <a:schemeClr val="tx1"/>
                </a:solidFill>
              </a:rPr>
              <a:t>Asked to call later? Add a call-back time; the Call back filter lists them.</a:t>
            </a:r>
            <a:endParaRPr lang="en-US" sz="1600" dirty="0"/>
          </a:p>
        </p:txBody>
      </p:sp>
      <p:sp>
        <p:nvSpPr>
          <p:cNvPr id="11" name="Do not call circle"/>
          <p:cNvSpPr/>
          <p:nvPr/>
        </p:nvSpPr>
        <p:spPr>
          <a:xfrm>
            <a:off x="548640" y="3520440"/>
            <a:ext cx="777240" cy="777240"/>
          </a:xfrm>
          <a:prstGeom prst="ellipse">
            <a:avLst/>
          </a:prstGeom>
          <a:solidFill>
            <a:schemeClr val="accent4"/>
          </a:solidFill>
          <a:ln w="12700">
            <a:solidFill>
              <a:schemeClr val="accent4"/>
            </a:solidFill>
            <a:prstDash val="solid"/>
          </a:ln>
        </p:spPr>
      </p:sp>
      <p:pic>
        <p:nvPicPr>
          <p:cNvPr id="12" name="Do not call" descr="preencoded.png">    </p:cNvPr>
          <p:cNvPicPr>
            <a:picLocks noChangeAspect="1"/>
          </p:cNvPicPr>
          <p:nvPr/>
        </p:nvPicPr>
        <p:blipFill>
          <a:blip r:embed="rId3"/>
          <a:stretch>
            <a:fillRect/>
          </a:stretch>
        </p:blipFill>
        <p:spPr>
          <a:xfrm>
            <a:off x="719633" y="3691433"/>
            <a:ext cx="435254" cy="435254"/>
          </a:xfrm>
          <a:prstGeom prst="rect">
            <a:avLst/>
          </a:prstGeom>
        </p:spPr>
      </p:pic>
      <p:sp>
        <p:nvSpPr>
          <p:cNvPr id="13" name="Text 8"/>
          <p:cNvSpPr txBox="1"/>
          <p:nvPr/>
        </p:nvSpPr>
        <p:spPr>
          <a:xfrm>
            <a:off x="1554480" y="3502152"/>
            <a:ext cx="4434840" cy="457200"/>
          </a:xfrm>
          <a:prstGeom prst="rect">
            <a:avLst/>
          </a:prstGeom>
          <a:noFill/>
          <a:ln/>
        </p:spPr>
        <p:txBody>
          <a:bodyPr wrap="square" lIns="0" tIns="0" rIns="0" bIns="0" rtlCol="0" anchor="t"/>
          <a:lstStyle/>
          <a:p>
            <a:pPr indent="0" marL="0">
              <a:buNone/>
            </a:pPr>
            <a:r>
              <a:rPr lang="en-US" sz="2200" b="1" dirty="0">
                <a:solidFill>
                  <a:schemeClr val="tx2"/>
                </a:solidFill>
              </a:rPr>
              <a:t>Do not call</a:t>
            </a:r>
            <a:endParaRPr lang="en-US" sz="2200" dirty="0"/>
          </a:p>
        </p:txBody>
      </p:sp>
      <p:sp>
        <p:nvSpPr>
          <p:cNvPr id="14" name="Text 9"/>
          <p:cNvSpPr txBox="1"/>
          <p:nvPr/>
        </p:nvSpPr>
        <p:spPr>
          <a:xfrm>
            <a:off x="1554480" y="3977640"/>
            <a:ext cx="4434840" cy="1005840"/>
          </a:xfrm>
          <a:prstGeom prst="rect">
            <a:avLst/>
          </a:prstGeom>
          <a:noFill/>
          <a:ln/>
        </p:spPr>
        <p:txBody>
          <a:bodyPr wrap="square" lIns="0" tIns="0" rIns="0" bIns="0" rtlCol="0" anchor="t"/>
          <a:lstStyle/>
          <a:p>
            <a:pPr indent="0" marL="0">
              <a:buNone/>
            </a:pPr>
            <a:r>
              <a:rPr lang="en-US" sz="1600" dirty="0">
                <a:solidFill>
                  <a:schemeClr val="tx1"/>
                </a:solidFill>
              </a:rPr>
              <a:t>If a card says Do not call, the number is hidden. Never contact that person.</a:t>
            </a:r>
            <a:endParaRPr lang="en-US" sz="1600" dirty="0"/>
          </a:p>
        </p:txBody>
      </p:sp>
      <p:sp>
        <p:nvSpPr>
          <p:cNvPr id="15" name="Keep numbers private circle"/>
          <p:cNvSpPr/>
          <p:nvPr/>
        </p:nvSpPr>
        <p:spPr>
          <a:xfrm>
            <a:off x="6172200" y="3520440"/>
            <a:ext cx="777240" cy="777240"/>
          </a:xfrm>
          <a:prstGeom prst="ellipse">
            <a:avLst/>
          </a:prstGeom>
          <a:solidFill>
            <a:schemeClr val="accent1"/>
          </a:solidFill>
          <a:ln w="12700">
            <a:solidFill>
              <a:schemeClr val="accent1"/>
            </a:solidFill>
            <a:prstDash val="solid"/>
          </a:ln>
        </p:spPr>
      </p:sp>
      <p:pic>
        <p:nvPicPr>
          <p:cNvPr id="16" name="Keep numbers private" descr="preencoded.png">    </p:cNvPr>
          <p:cNvPicPr>
            <a:picLocks noChangeAspect="1"/>
          </p:cNvPicPr>
          <p:nvPr/>
        </p:nvPicPr>
        <p:blipFill>
          <a:blip r:embed="rId4"/>
          <a:stretch>
            <a:fillRect/>
          </a:stretch>
        </p:blipFill>
        <p:spPr>
          <a:xfrm>
            <a:off x="6343193" y="3691433"/>
            <a:ext cx="435254" cy="435254"/>
          </a:xfrm>
          <a:prstGeom prst="rect">
            <a:avLst/>
          </a:prstGeom>
        </p:spPr>
      </p:pic>
      <p:sp>
        <p:nvSpPr>
          <p:cNvPr id="17" name="Text 11"/>
          <p:cNvSpPr txBox="1"/>
          <p:nvPr/>
        </p:nvSpPr>
        <p:spPr>
          <a:xfrm>
            <a:off x="7178040" y="3502152"/>
            <a:ext cx="4434840" cy="457200"/>
          </a:xfrm>
          <a:prstGeom prst="rect">
            <a:avLst/>
          </a:prstGeom>
          <a:noFill/>
          <a:ln/>
        </p:spPr>
        <p:txBody>
          <a:bodyPr wrap="square" lIns="0" tIns="0" rIns="0" bIns="0" rtlCol="0" anchor="t"/>
          <a:lstStyle/>
          <a:p>
            <a:pPr indent="0" marL="0">
              <a:buNone/>
            </a:pPr>
            <a:r>
              <a:rPr lang="en-US" sz="2200" b="1" dirty="0">
                <a:solidFill>
                  <a:schemeClr val="tx2"/>
                </a:solidFill>
              </a:rPr>
              <a:t>Keep numbers private</a:t>
            </a:r>
            <a:endParaRPr lang="en-US" sz="2200" dirty="0"/>
          </a:p>
        </p:txBody>
      </p:sp>
      <p:sp>
        <p:nvSpPr>
          <p:cNvPr id="18" name="Text 12"/>
          <p:cNvSpPr txBox="1"/>
          <p:nvPr/>
        </p:nvSpPr>
        <p:spPr>
          <a:xfrm>
            <a:off x="7178040" y="3977640"/>
            <a:ext cx="4434840" cy="1005840"/>
          </a:xfrm>
          <a:prstGeom prst="rect">
            <a:avLst/>
          </a:prstGeom>
          <a:noFill/>
          <a:ln/>
        </p:spPr>
        <p:txBody>
          <a:bodyPr wrap="square" lIns="0" tIns="0" rIns="0" bIns="0" rtlCol="0" anchor="t"/>
          <a:lstStyle/>
          <a:p>
            <a:pPr indent="0" marL="0">
              <a:buNone/>
            </a:pPr>
            <a:r>
              <a:rPr lang="en-US" sz="1600" dirty="0">
                <a:solidFill>
                  <a:schemeClr val="tx1"/>
                </a:solidFill>
              </a:rPr>
              <a:t>Don't share screenshots or forward numbers. Use them only for calling seva.</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10698480" cy="1097280"/>
          </a:xfrm>
          <a:prstGeom prst="rect">
            <a:avLst/>
          </a:prstGeom>
          <a:noFill/>
          <a:ln/>
        </p:spPr>
        <p:txBody>
          <a:bodyPr wrap="square" lIns="0" tIns="0" rIns="0" bIns="0" rtlCol="0" anchor="b"/>
          <a:lstStyle/>
          <a:p>
            <a:pPr algn="l" indent="0" marL="0">
              <a:buNone/>
            </a:pPr>
            <a:r>
              <a:rPr lang="en-US" sz="4800" b="1" dirty="0">
                <a:solidFill>
                  <a:schemeClr val="bg1"/>
                </a:solidFill>
              </a:rPr>
              <a:t>For coordinators</a:t>
            </a:r>
            <a:endParaRPr lang="en-US" sz="4800" dirty="0"/>
          </a:p>
        </p:txBody>
      </p:sp>
      <p:sp>
        <p:nvSpPr>
          <p:cNvPr id="3" name="Text 0"/>
          <p:cNvSpPr/>
          <p:nvPr>
            <p:ph idx="101" type="body" hasCustomPrompt="1"/>
          </p:nvPr>
        </p:nvSpPr>
        <p:spPr>
          <a:xfrm>
            <a:off x="731520" y="3657600"/>
            <a:ext cx="10698480" cy="822960"/>
          </a:xfrm>
          <a:prstGeom prst="rect">
            <a:avLst/>
          </a:prstGeom>
          <a:noFill/>
          <a:ln/>
        </p:spPr>
        <p:txBody>
          <a:bodyPr wrap="square" lIns="0" tIns="0" rIns="0" bIns="0" rtlCol="0" anchor="t"/>
          <a:lstStyle/>
          <a:p>
            <a:pPr algn="l" indent="0" marL="0">
              <a:buNone/>
            </a:pPr>
            <a:r>
              <a:rPr lang="en-US" sz="2200" dirty="0">
                <a:solidFill>
                  <a:schemeClr val="accent2"/>
                </a:solidFill>
              </a:rPr>
              <a:t>Running Calling Seva from the dashboard</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dashboard shows where things stand</a:t>
            </a:r>
            <a:endParaRPr lang="en-US" sz="3600" dirty="0"/>
          </a:p>
        </p:txBody>
      </p:sp>
      <p:sp>
        <p:nvSpPr>
          <p:cNvPr id="3" name="dashboard screenshot frame"/>
          <p:cNvSpPr/>
          <p:nvPr/>
        </p:nvSpPr>
        <p:spPr>
          <a:xfrm>
            <a:off x="566928" y="1252728"/>
            <a:ext cx="7370064" cy="4663440"/>
          </a:xfrm>
          <a:prstGeom prst="roundRect">
            <a:avLst>
              <a:gd name="adj" fmla="val 1569"/>
            </a:avLst>
          </a:prstGeom>
          <a:solidFill>
            <a:schemeClr val="bg1"/>
          </a:solidFill>
          <a:ln w="9525">
            <a:solidFill>
              <a:srgbClr val="D5DBE3"/>
            </a:solidFill>
            <a:prstDash val="solid"/>
          </a:ln>
          <a:effectLst>
            <a:outerShdw sx="100000" sy="100000" kx="0" ky="0" algn="bl" rotWithShape="0" blurRad="127000" dist="38100" dir="5400000">
              <a:srgbClr val="0F172A">
                <a:alpha val="18000"/>
              </a:srgbClr>
            </a:outerShdw>
          </a:effectLst>
        </p:spPr>
      </p:sp>
      <p:pic>
        <p:nvPicPr>
          <p:cNvPr id="4" name="dashboard screenshot" descr="Coordinator dashboard: calling open, WhatsApp reminder, six key numbers and progress per caller">    </p:cNvPr>
          <p:cNvPicPr>
            <a:picLocks noChangeAspect="1"/>
          </p:cNvPicPr>
          <p:nvPr/>
        </p:nvPicPr>
        <p:blipFill>
          <a:blip r:embed="rId1"/>
          <a:stretch>
            <a:fillRect/>
          </a:stretch>
        </p:blipFill>
        <p:spPr>
          <a:xfrm>
            <a:off x="640080" y="1325880"/>
            <a:ext cx="7223760" cy="4517136"/>
          </a:xfrm>
          <a:prstGeom prst="rect">
            <a:avLst/>
          </a:prstGeom>
        </p:spPr>
      </p:pic>
      <p:sp>
        <p:nvSpPr>
          <p:cNvPr id="5" name="One main button circle"/>
          <p:cNvSpPr/>
          <p:nvPr/>
        </p:nvSpPr>
        <p:spPr>
          <a:xfrm>
            <a:off x="8229600" y="1417320"/>
            <a:ext cx="640080" cy="640080"/>
          </a:xfrm>
          <a:prstGeom prst="ellipse">
            <a:avLst/>
          </a:prstGeom>
          <a:solidFill>
            <a:schemeClr val="accent1"/>
          </a:solidFill>
          <a:ln w="12700">
            <a:solidFill>
              <a:schemeClr val="accent1"/>
            </a:solidFill>
            <a:prstDash val="solid"/>
          </a:ln>
        </p:spPr>
      </p:sp>
      <p:pic>
        <p:nvPicPr>
          <p:cNvPr id="6" name="One main button" descr="preencoded.png">    </p:cNvPr>
          <p:cNvPicPr>
            <a:picLocks noChangeAspect="1"/>
          </p:cNvPicPr>
          <p:nvPr/>
        </p:nvPicPr>
        <p:blipFill>
          <a:blip r:embed="rId2"/>
          <a:stretch>
            <a:fillRect/>
          </a:stretch>
        </p:blipFill>
        <p:spPr>
          <a:xfrm>
            <a:off x="8370418" y="1558138"/>
            <a:ext cx="358445" cy="358445"/>
          </a:xfrm>
          <a:prstGeom prst="rect">
            <a:avLst/>
          </a:prstGeom>
        </p:spPr>
      </p:pic>
      <p:sp>
        <p:nvSpPr>
          <p:cNvPr id="7" name="Text 3"/>
          <p:cNvSpPr txBox="1"/>
          <p:nvPr/>
        </p:nvSpPr>
        <p:spPr>
          <a:xfrm>
            <a:off x="9052560" y="1399032"/>
            <a:ext cx="2606040" cy="411480"/>
          </a:xfrm>
          <a:prstGeom prst="rect">
            <a:avLst/>
          </a:prstGeom>
          <a:noFill/>
          <a:ln/>
        </p:spPr>
        <p:txBody>
          <a:bodyPr wrap="square" lIns="0" tIns="0" rIns="0" bIns="0" rtlCol="0" anchor="t"/>
          <a:lstStyle/>
          <a:p>
            <a:pPr indent="0" marL="0">
              <a:buNone/>
            </a:pPr>
            <a:r>
              <a:rPr lang="en-US" sz="1800" b="1" dirty="0">
                <a:solidFill>
                  <a:schemeClr val="tx2"/>
                </a:solidFill>
              </a:rPr>
              <a:t>One main button</a:t>
            </a:r>
            <a:endParaRPr lang="en-US" sz="1800" dirty="0"/>
          </a:p>
        </p:txBody>
      </p:sp>
      <p:sp>
        <p:nvSpPr>
          <p:cNvPr id="8" name="Text 4"/>
          <p:cNvSpPr txBox="1"/>
          <p:nvPr/>
        </p:nvSpPr>
        <p:spPr>
          <a:xfrm>
            <a:off x="9052560" y="1801368"/>
            <a:ext cx="2606040" cy="960120"/>
          </a:xfrm>
          <a:prstGeom prst="rect">
            <a:avLst/>
          </a:prstGeom>
          <a:noFill/>
          <a:ln/>
        </p:spPr>
        <p:txBody>
          <a:bodyPr wrap="square" lIns="0" tIns="0" rIns="0" bIns="0" rtlCol="0" anchor="t"/>
          <a:lstStyle/>
          <a:p>
            <a:pPr indent="0" marL="0">
              <a:buNone/>
            </a:pPr>
            <a:r>
              <a:rPr lang="en-US" sz="1400" dirty="0">
                <a:solidFill>
                  <a:schemeClr val="tx1"/>
                </a:solidFill>
              </a:rPr>
              <a:t>It changes with the week: setup steps, then Start calling, then Share, then View results.</a:t>
            </a:r>
            <a:endParaRPr lang="en-US" sz="1400" dirty="0"/>
          </a:p>
        </p:txBody>
      </p:sp>
      <p:sp>
        <p:nvSpPr>
          <p:cNvPr id="9" name="Live numbers circle"/>
          <p:cNvSpPr/>
          <p:nvPr/>
        </p:nvSpPr>
        <p:spPr>
          <a:xfrm>
            <a:off x="8229600" y="2880360"/>
            <a:ext cx="640080" cy="640080"/>
          </a:xfrm>
          <a:prstGeom prst="ellipse">
            <a:avLst/>
          </a:prstGeom>
          <a:solidFill>
            <a:schemeClr val="accent1"/>
          </a:solidFill>
          <a:ln w="12700">
            <a:solidFill>
              <a:schemeClr val="accent1"/>
            </a:solidFill>
            <a:prstDash val="solid"/>
          </a:ln>
        </p:spPr>
      </p:sp>
      <p:pic>
        <p:nvPicPr>
          <p:cNvPr id="10" name="Live numbers" descr="preencoded.png">    </p:cNvPr>
          <p:cNvPicPr>
            <a:picLocks noChangeAspect="1"/>
          </p:cNvPicPr>
          <p:nvPr/>
        </p:nvPicPr>
        <p:blipFill>
          <a:blip r:embed="rId3"/>
          <a:stretch>
            <a:fillRect/>
          </a:stretch>
        </p:blipFill>
        <p:spPr>
          <a:xfrm>
            <a:off x="8370418" y="3021178"/>
            <a:ext cx="358445" cy="358445"/>
          </a:xfrm>
          <a:prstGeom prst="rect">
            <a:avLst/>
          </a:prstGeom>
        </p:spPr>
      </p:pic>
      <p:sp>
        <p:nvSpPr>
          <p:cNvPr id="11" name="Text 6"/>
          <p:cNvSpPr txBox="1"/>
          <p:nvPr/>
        </p:nvSpPr>
        <p:spPr>
          <a:xfrm>
            <a:off x="9052560" y="2862072"/>
            <a:ext cx="2606040" cy="411480"/>
          </a:xfrm>
          <a:prstGeom prst="rect">
            <a:avLst/>
          </a:prstGeom>
          <a:noFill/>
          <a:ln/>
        </p:spPr>
        <p:txBody>
          <a:bodyPr wrap="square" lIns="0" tIns="0" rIns="0" bIns="0" rtlCol="0" anchor="t"/>
          <a:lstStyle/>
          <a:p>
            <a:pPr indent="0" marL="0">
              <a:buNone/>
            </a:pPr>
            <a:r>
              <a:rPr lang="en-US" sz="1800" b="1" dirty="0">
                <a:solidFill>
                  <a:schemeClr val="tx2"/>
                </a:solidFill>
              </a:rPr>
              <a:t>Live numbers</a:t>
            </a:r>
            <a:endParaRPr lang="en-US" sz="1800" dirty="0"/>
          </a:p>
        </p:txBody>
      </p:sp>
      <p:sp>
        <p:nvSpPr>
          <p:cNvPr id="12" name="Text 7"/>
          <p:cNvSpPr txBox="1"/>
          <p:nvPr/>
        </p:nvSpPr>
        <p:spPr>
          <a:xfrm>
            <a:off x="9052560" y="3264408"/>
            <a:ext cx="2606040" cy="960120"/>
          </a:xfrm>
          <a:prstGeom prst="rect">
            <a:avLst/>
          </a:prstGeom>
          <a:noFill/>
          <a:ln/>
        </p:spPr>
        <p:txBody>
          <a:bodyPr wrap="square" lIns="0" tIns="0" rIns="0" bIns="0" rtlCol="0" anchor="t"/>
          <a:lstStyle/>
          <a:p>
            <a:pPr indent="0" marL="0">
              <a:buNone/>
            </a:pPr>
            <a:r>
              <a:rPr lang="en-US" sz="1400" dirty="0">
                <a:solidFill>
                  <a:schemeClr val="tx1"/>
                </a:solidFill>
              </a:rPr>
              <a:t>Active Saints, callers, calls done, pending and Yes.</a:t>
            </a:r>
            <a:endParaRPr lang="en-US" sz="1400" dirty="0"/>
          </a:p>
        </p:txBody>
      </p:sp>
      <p:sp>
        <p:nvSpPr>
          <p:cNvPr id="13" name="Progress per caller circle"/>
          <p:cNvSpPr/>
          <p:nvPr/>
        </p:nvSpPr>
        <p:spPr>
          <a:xfrm>
            <a:off x="8229600" y="4343400"/>
            <a:ext cx="640080" cy="640080"/>
          </a:xfrm>
          <a:prstGeom prst="ellipse">
            <a:avLst/>
          </a:prstGeom>
          <a:solidFill>
            <a:schemeClr val="accent1"/>
          </a:solidFill>
          <a:ln w="12700">
            <a:solidFill>
              <a:schemeClr val="accent1"/>
            </a:solidFill>
            <a:prstDash val="solid"/>
          </a:ln>
        </p:spPr>
      </p:sp>
      <p:pic>
        <p:nvPicPr>
          <p:cNvPr id="14" name="Progress per caller" descr="preencoded.png">    </p:cNvPr>
          <p:cNvPicPr>
            <a:picLocks noChangeAspect="1"/>
          </p:cNvPicPr>
          <p:nvPr/>
        </p:nvPicPr>
        <p:blipFill>
          <a:blip r:embed="rId4"/>
          <a:stretch>
            <a:fillRect/>
          </a:stretch>
        </p:blipFill>
        <p:spPr>
          <a:xfrm>
            <a:off x="8370418" y="4484218"/>
            <a:ext cx="358445" cy="358445"/>
          </a:xfrm>
          <a:prstGeom prst="rect">
            <a:avLst/>
          </a:prstGeom>
        </p:spPr>
      </p:pic>
      <p:sp>
        <p:nvSpPr>
          <p:cNvPr id="15" name="Text 9"/>
          <p:cNvSpPr txBox="1"/>
          <p:nvPr/>
        </p:nvSpPr>
        <p:spPr>
          <a:xfrm>
            <a:off x="9052560" y="4325112"/>
            <a:ext cx="2606040" cy="411480"/>
          </a:xfrm>
          <a:prstGeom prst="rect">
            <a:avLst/>
          </a:prstGeom>
          <a:noFill/>
          <a:ln/>
        </p:spPr>
        <p:txBody>
          <a:bodyPr wrap="square" lIns="0" tIns="0" rIns="0" bIns="0" rtlCol="0" anchor="t"/>
          <a:lstStyle/>
          <a:p>
            <a:pPr indent="0" marL="0">
              <a:buNone/>
            </a:pPr>
            <a:r>
              <a:rPr lang="en-US" sz="1800" b="1" dirty="0">
                <a:solidFill>
                  <a:schemeClr val="tx2"/>
                </a:solidFill>
              </a:rPr>
              <a:t>Progress per caller</a:t>
            </a:r>
            <a:endParaRPr lang="en-US" sz="1800" dirty="0"/>
          </a:p>
        </p:txBody>
      </p:sp>
      <p:sp>
        <p:nvSpPr>
          <p:cNvPr id="16" name="Text 10"/>
          <p:cNvSpPr txBox="1"/>
          <p:nvPr/>
        </p:nvSpPr>
        <p:spPr>
          <a:xfrm>
            <a:off x="9052560" y="4727448"/>
            <a:ext cx="2606040" cy="960120"/>
          </a:xfrm>
          <a:prstGeom prst="rect">
            <a:avLst/>
          </a:prstGeom>
          <a:noFill/>
          <a:ln/>
        </p:spPr>
        <p:txBody>
          <a:bodyPr wrap="square" lIns="0" tIns="0" rIns="0" bIns="0" rtlCol="0" anchor="t"/>
          <a:lstStyle/>
          <a:p>
            <a:pPr indent="0" marL="0">
              <a:buNone/>
            </a:pPr>
            <a:r>
              <a:rPr lang="en-US" sz="1400" dirty="0">
                <a:solidFill>
                  <a:schemeClr val="tx1"/>
                </a:solidFill>
              </a:rPr>
              <a:t>See at a glance who may need a reminder.</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Saints and the calling team</a:t>
            </a:r>
            <a:endParaRPr lang="en-US" sz="3600" dirty="0"/>
          </a:p>
        </p:txBody>
      </p:sp>
      <p:sp>
        <p:nvSpPr>
          <p:cNvPr id="3" name="Text 1"/>
          <p:cNvSpPr txBox="1"/>
          <p:nvPr/>
        </p:nvSpPr>
        <p:spPr>
          <a:xfrm>
            <a:off x="640080" y="1325880"/>
            <a:ext cx="5303520" cy="411480"/>
          </a:xfrm>
          <a:prstGeom prst="rect">
            <a:avLst/>
          </a:prstGeom>
          <a:noFill/>
          <a:ln/>
        </p:spPr>
        <p:txBody>
          <a:bodyPr wrap="square" lIns="0" tIns="0" rIns="0" bIns="0" rtlCol="0" anchor="t"/>
          <a:lstStyle/>
          <a:p>
            <a:pPr indent="0" marL="0">
              <a:buNone/>
            </a:pPr>
            <a:r>
              <a:rPr lang="en-US" sz="2200" b="1" dirty="0">
                <a:solidFill>
                  <a:schemeClr val="tx2"/>
                </a:solidFill>
              </a:rPr>
              <a:t>Saints Directory</a:t>
            </a:r>
            <a:endParaRPr lang="en-US" sz="2200" dirty="0"/>
          </a:p>
        </p:txBody>
      </p:sp>
      <p:sp>
        <p:nvSpPr>
          <p:cNvPr id="4" name="Text 2"/>
          <p:cNvSpPr txBox="1"/>
          <p:nvPr/>
        </p:nvSpPr>
        <p:spPr>
          <a:xfrm>
            <a:off x="640080" y="1783080"/>
            <a:ext cx="5303520" cy="731520"/>
          </a:xfrm>
          <a:prstGeom prst="rect">
            <a:avLst/>
          </a:prstGeom>
          <a:noFill/>
          <a:ln/>
        </p:spPr>
        <p:txBody>
          <a:bodyPr wrap="square" lIns="0" tIns="0" rIns="0" bIns="0" rtlCol="0" anchor="t"/>
          <a:lstStyle/>
          <a:p>
            <a:pPr indent="0" marL="0">
              <a:buNone/>
            </a:pPr>
            <a:r>
              <a:rPr lang="en-US" sz="1600" dirty="0">
                <a:solidFill>
                  <a:schemeClr val="tx1"/>
                </a:solidFill>
              </a:rPr>
              <a:t>Search by name or mobile. Status: Active, Temporarily unavailable, Inactive or Do not call.</a:t>
            </a:r>
            <a:endParaRPr lang="en-US" sz="1600" dirty="0"/>
          </a:p>
        </p:txBody>
      </p:sp>
      <p:sp>
        <p:nvSpPr>
          <p:cNvPr id="5" name="Saints Directory screenshot frame"/>
          <p:cNvSpPr/>
          <p:nvPr/>
        </p:nvSpPr>
        <p:spPr>
          <a:xfrm>
            <a:off x="566928" y="2670048"/>
            <a:ext cx="5449824" cy="2945384"/>
          </a:xfrm>
          <a:prstGeom prst="roundRect">
            <a:avLst>
              <a:gd name="adj" fmla="val 2484"/>
            </a:avLst>
          </a:prstGeom>
          <a:solidFill>
            <a:schemeClr val="bg1"/>
          </a:solidFill>
          <a:ln w="9525">
            <a:solidFill>
              <a:srgbClr val="D5DBE3"/>
            </a:solidFill>
            <a:prstDash val="solid"/>
          </a:ln>
          <a:effectLst>
            <a:outerShdw sx="100000" sy="100000" kx="0" ky="0" algn="bl" rotWithShape="0" blurRad="127000" dist="38100" dir="5400000">
              <a:srgbClr val="0F172A">
                <a:alpha val="18000"/>
              </a:srgbClr>
            </a:outerShdw>
          </a:effectLst>
        </p:spPr>
      </p:sp>
      <p:pic>
        <p:nvPicPr>
          <p:cNvPr id="6" name="Saints Directory screenshot" descr="Saints Directory listing Saints with mobile, area, caller and status">    </p:cNvPr>
          <p:cNvPicPr>
            <a:picLocks noChangeAspect="1"/>
          </p:cNvPicPr>
          <p:nvPr/>
        </p:nvPicPr>
        <p:blipFill>
          <a:blip r:embed="rId1"/>
          <a:stretch>
            <a:fillRect/>
          </a:stretch>
        </p:blipFill>
        <p:spPr>
          <a:xfrm>
            <a:off x="640080" y="2743200"/>
            <a:ext cx="5303520" cy="2799080"/>
          </a:xfrm>
          <a:prstGeom prst="rect">
            <a:avLst/>
          </a:prstGeom>
        </p:spPr>
      </p:pic>
      <p:sp>
        <p:nvSpPr>
          <p:cNvPr id="7" name="Text 4"/>
          <p:cNvSpPr txBox="1"/>
          <p:nvPr/>
        </p:nvSpPr>
        <p:spPr>
          <a:xfrm>
            <a:off x="6263640" y="1325880"/>
            <a:ext cx="5303520" cy="411480"/>
          </a:xfrm>
          <a:prstGeom prst="rect">
            <a:avLst/>
          </a:prstGeom>
          <a:noFill/>
          <a:ln/>
        </p:spPr>
        <p:txBody>
          <a:bodyPr wrap="square" lIns="0" tIns="0" rIns="0" bIns="0" rtlCol="0" anchor="t"/>
          <a:lstStyle/>
          <a:p>
            <a:pPr indent="0" marL="0">
              <a:buNone/>
            </a:pPr>
            <a:r>
              <a:rPr lang="en-US" sz="2200" b="1" dirty="0">
                <a:solidFill>
                  <a:schemeClr val="tx2"/>
                </a:solidFill>
              </a:rPr>
              <a:t>Team</a:t>
            </a:r>
            <a:endParaRPr lang="en-US" sz="2200" dirty="0"/>
          </a:p>
        </p:txBody>
      </p:sp>
      <p:sp>
        <p:nvSpPr>
          <p:cNvPr id="8" name="Text 5"/>
          <p:cNvSpPr txBox="1"/>
          <p:nvPr/>
        </p:nvSpPr>
        <p:spPr>
          <a:xfrm>
            <a:off x="6263640" y="1783080"/>
            <a:ext cx="5303520" cy="731520"/>
          </a:xfrm>
          <a:prstGeom prst="rect">
            <a:avLst/>
          </a:prstGeom>
          <a:noFill/>
          <a:ln/>
        </p:spPr>
        <p:txBody>
          <a:bodyPr wrap="square" lIns="0" tIns="0" rIns="0" bIns="0" rtlCol="0" anchor="t"/>
          <a:lstStyle/>
          <a:p>
            <a:pPr indent="0" marL="0">
              <a:buNone/>
            </a:pPr>
            <a:r>
              <a:rPr lang="en-US" sz="1600" dirty="0">
                <a:solidFill>
                  <a:schemeClr val="tx1"/>
                </a:solidFill>
              </a:rPr>
              <a:t>Add callers, reset passwords, deactivate when someone stops. History is always kept.</a:t>
            </a:r>
            <a:endParaRPr lang="en-US" sz="1600" dirty="0"/>
          </a:p>
        </p:txBody>
      </p:sp>
      <p:sp>
        <p:nvSpPr>
          <p:cNvPr id="9" name="Team screenshot frame"/>
          <p:cNvSpPr/>
          <p:nvPr/>
        </p:nvSpPr>
        <p:spPr>
          <a:xfrm>
            <a:off x="6190488" y="2670048"/>
            <a:ext cx="5449824" cy="2724404"/>
          </a:xfrm>
          <a:prstGeom prst="roundRect">
            <a:avLst>
              <a:gd name="adj" fmla="val 2685"/>
            </a:avLst>
          </a:prstGeom>
          <a:solidFill>
            <a:schemeClr val="bg1"/>
          </a:solidFill>
          <a:ln w="9525">
            <a:solidFill>
              <a:srgbClr val="D5DBE3"/>
            </a:solidFill>
            <a:prstDash val="solid"/>
          </a:ln>
          <a:effectLst>
            <a:outerShdw sx="100000" sy="100000" kx="0" ky="0" algn="bl" rotWithShape="0" blurRad="127000" dist="38100" dir="5400000">
              <a:srgbClr val="0F172A">
                <a:alpha val="18000"/>
              </a:srgbClr>
            </a:outerShdw>
          </a:effectLst>
        </p:spPr>
      </p:sp>
      <p:pic>
        <p:nvPicPr>
          <p:cNvPr id="10" name="Team screenshot" descr="Team page with a card for each caller showing Saints, pending calls and last call">    </p:cNvPr>
          <p:cNvPicPr>
            <a:picLocks noChangeAspect="1"/>
          </p:cNvPicPr>
          <p:nvPr/>
        </p:nvPicPr>
        <p:blipFill>
          <a:blip r:embed="rId2"/>
          <a:stretch>
            <a:fillRect/>
          </a:stretch>
        </p:blipFill>
        <p:spPr>
          <a:xfrm>
            <a:off x="6263640" y="2743200"/>
            <a:ext cx="5303520" cy="25781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One caller looks after each Saint</a:t>
            </a:r>
            <a:endParaRPr lang="en-US" sz="3600" dirty="0"/>
          </a:p>
        </p:txBody>
      </p:sp>
      <p:sp>
        <p:nvSpPr>
          <p:cNvPr id="3" name="Text 1"/>
          <p:cNvSpPr txBox="1"/>
          <p:nvPr/>
        </p:nvSpPr>
        <p:spPr>
          <a:xfrm>
            <a:off x="548640" y="1371600"/>
            <a:ext cx="4206240" cy="914400"/>
          </a:xfrm>
          <a:prstGeom prst="rect">
            <a:avLst/>
          </a:prstGeom>
          <a:noFill/>
          <a:ln/>
        </p:spPr>
        <p:txBody>
          <a:bodyPr wrap="square" lIns="0" tIns="0" rIns="0" bIns="0" rtlCol="0" anchor="ctr"/>
          <a:lstStyle/>
          <a:p>
            <a:pPr indent="0" marL="0">
              <a:buNone/>
            </a:pPr>
            <a:r>
              <a:rPr lang="en-US" sz="6000" b="1" dirty="0">
                <a:solidFill>
                  <a:schemeClr val="accent1"/>
                </a:solidFill>
              </a:rPr>
              <a:t>~3 months</a:t>
            </a:r>
            <a:endParaRPr lang="en-US" sz="6000" dirty="0"/>
          </a:p>
        </p:txBody>
      </p:sp>
      <p:sp>
        <p:nvSpPr>
          <p:cNvPr id="4" name="Text 2"/>
          <p:cNvSpPr txBox="1"/>
          <p:nvPr/>
        </p:nvSpPr>
        <p:spPr>
          <a:xfrm>
            <a:off x="548640" y="2286000"/>
            <a:ext cx="4023360" cy="731520"/>
          </a:xfrm>
          <a:prstGeom prst="rect">
            <a:avLst/>
          </a:prstGeom>
          <a:noFill/>
          <a:ln/>
        </p:spPr>
        <p:txBody>
          <a:bodyPr wrap="square" lIns="0" tIns="0" rIns="0" bIns="0" rtlCol="0" anchor="t"/>
          <a:lstStyle/>
          <a:p>
            <a:pPr indent="0" marL="0">
              <a:buNone/>
            </a:pPr>
            <a:r>
              <a:rPr lang="en-US" sz="1600" dirty="0">
                <a:solidFill>
                  <a:schemeClr val="accent6"/>
                </a:solidFill>
              </a:rPr>
              <a:t>each Saint stays with the same caller, then the lists rotate</a:t>
            </a:r>
            <a:endParaRPr lang="en-US" sz="1600" dirty="0"/>
          </a:p>
        </p:txBody>
      </p:sp>
      <p:sp>
        <p:nvSpPr>
          <p:cNvPr id="5" name="Text 3"/>
          <p:cNvSpPr txBox="1"/>
          <p:nvPr/>
        </p:nvSpPr>
        <p:spPr>
          <a:xfrm>
            <a:off x="548640" y="3291840"/>
            <a:ext cx="4023360" cy="25603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Assign Saints who have no caller</a:t>
            </a:r>
            <a:endParaRPr lang="en-US" sz="1600" dirty="0"/>
          </a:p>
          <a:p>
            <a:pPr marL="342900" indent="-342900">
              <a:spcAft>
                <a:spcPts val="1200"/>
              </a:spcAft>
              <a:buSzPct val="100000"/>
              <a:buChar char="•"/>
            </a:pPr>
            <a:r>
              <a:rPr lang="en-US" sz="1600" dirty="0">
                <a:solidFill>
                  <a:schemeClr val="tx1"/>
                </a:solidFill>
              </a:rPr>
              <a:t>Move a whole list, or swap two callers' lists</a:t>
            </a:r>
            <a:endParaRPr lang="en-US" sz="1600" dirty="0"/>
          </a:p>
          <a:p>
            <a:pPr marL="342900" indent="-342900">
              <a:spcAft>
                <a:spcPts val="1200"/>
              </a:spcAft>
              <a:buSzPct val="100000"/>
              <a:buChar char="•"/>
            </a:pPr>
            <a:r>
              <a:rPr lang="en-US" sz="1600" dirty="0">
                <a:solidFill>
                  <a:schemeClr val="tx1"/>
                </a:solidFill>
              </a:rPr>
              <a:t>Every change is previewed before it happens</a:t>
            </a:r>
            <a:endParaRPr lang="en-US" sz="1600" dirty="0"/>
          </a:p>
          <a:p>
            <a:pPr marL="342900" indent="-342900">
              <a:spcAft>
                <a:spcPts val="1200"/>
              </a:spcAft>
              <a:buSzPct val="100000"/>
              <a:buChar char="•"/>
            </a:pPr>
            <a:r>
              <a:rPr lang="en-US" sz="1600" dirty="0">
                <a:solidFill>
                  <a:schemeClr val="tx1"/>
                </a:solidFill>
              </a:rPr>
              <a:t>Full history of who called whom, and why</a:t>
            </a:r>
            <a:endParaRPr lang="en-US" sz="1600" dirty="0"/>
          </a:p>
        </p:txBody>
      </p:sp>
      <p:sp>
        <p:nvSpPr>
          <p:cNvPr id="6" name="assignments screenshot frame"/>
          <p:cNvSpPr/>
          <p:nvPr/>
        </p:nvSpPr>
        <p:spPr>
          <a:xfrm>
            <a:off x="4956048" y="1298448"/>
            <a:ext cx="6729984" cy="3803904"/>
          </a:xfrm>
          <a:prstGeom prst="roundRect">
            <a:avLst>
              <a:gd name="adj" fmla="val 1923"/>
            </a:avLst>
          </a:prstGeom>
          <a:solidFill>
            <a:schemeClr val="bg1"/>
          </a:solidFill>
          <a:ln w="9525">
            <a:solidFill>
              <a:srgbClr val="D5DBE3"/>
            </a:solidFill>
            <a:prstDash val="solid"/>
          </a:ln>
          <a:effectLst>
            <a:outerShdw sx="100000" sy="100000" kx="0" ky="0" algn="bl" rotWithShape="0" blurRad="127000" dist="38100" dir="5400000">
              <a:srgbClr val="0F172A">
                <a:alpha val="18000"/>
              </a:srgbClr>
            </a:outerShdw>
          </a:effectLst>
        </p:spPr>
      </p:sp>
      <p:pic>
        <p:nvPicPr>
          <p:cNvPr id="7" name="assignments screenshot" descr="Team and Assignments page with a card per caller showing workload and pending calls">    </p:cNvPr>
          <p:cNvPicPr>
            <a:picLocks noChangeAspect="1"/>
          </p:cNvPicPr>
          <p:nvPr/>
        </p:nvPicPr>
        <p:blipFill>
          <a:blip r:embed="rId1"/>
          <a:stretch>
            <a:fillRect/>
          </a:stretch>
        </p:blipFill>
        <p:spPr>
          <a:xfrm>
            <a:off x="5029200" y="1371600"/>
            <a:ext cx="6583680" cy="36576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Bringing in the Excel workbook</a:t>
            </a:r>
            <a:endParaRPr lang="en-US" sz="3600" dirty="0"/>
          </a:p>
        </p:txBody>
      </p:sp>
      <p:sp>
        <p:nvSpPr>
          <p:cNvPr id="3" name="Upload card"/>
          <p:cNvSpPr/>
          <p:nvPr/>
        </p:nvSpPr>
        <p:spPr>
          <a:xfrm>
            <a:off x="548640" y="1463040"/>
            <a:ext cx="2606040" cy="3017520"/>
          </a:xfrm>
          <a:prstGeom prst="roundRect">
            <a:avLst>
              <a:gd name="adj" fmla="val 4211"/>
            </a:avLst>
          </a:prstGeom>
          <a:solidFill>
            <a:schemeClr val="bg2"/>
          </a:solidFill>
          <a:ln w="12700">
            <a:solidFill>
              <a:schemeClr val="bg2"/>
            </a:solidFill>
            <a:prstDash val="solid"/>
          </a:ln>
        </p:spPr>
      </p:sp>
      <p:sp>
        <p:nvSpPr>
          <p:cNvPr id="4" name="Upload circle"/>
          <p:cNvSpPr/>
          <p:nvPr/>
        </p:nvSpPr>
        <p:spPr>
          <a:xfrm>
            <a:off x="868680" y="1783080"/>
            <a:ext cx="731520" cy="731520"/>
          </a:xfrm>
          <a:prstGeom prst="ellipse">
            <a:avLst/>
          </a:prstGeom>
          <a:solidFill>
            <a:schemeClr val="accent1"/>
          </a:solidFill>
          <a:ln w="12700">
            <a:solidFill>
              <a:schemeClr val="accent1"/>
            </a:solidFill>
            <a:prstDash val="solid"/>
          </a:ln>
        </p:spPr>
      </p:sp>
      <p:pic>
        <p:nvPicPr>
          <p:cNvPr id="5" name="Upload" descr="preencoded.png">    </p:cNvPr>
          <p:cNvPicPr>
            <a:picLocks noChangeAspect="1"/>
          </p:cNvPicPr>
          <p:nvPr/>
        </p:nvPicPr>
        <p:blipFill>
          <a:blip r:embed="rId1"/>
          <a:stretch>
            <a:fillRect/>
          </a:stretch>
        </p:blipFill>
        <p:spPr>
          <a:xfrm>
            <a:off x="1029614" y="1944014"/>
            <a:ext cx="409651" cy="409651"/>
          </a:xfrm>
          <a:prstGeom prst="rect">
            <a:avLst/>
          </a:prstGeom>
        </p:spPr>
      </p:pic>
      <p:sp>
        <p:nvSpPr>
          <p:cNvPr id="6" name="Text 3"/>
          <p:cNvSpPr txBox="1"/>
          <p:nvPr/>
        </p:nvSpPr>
        <p:spPr>
          <a:xfrm>
            <a:off x="868680" y="2697480"/>
            <a:ext cx="2103120" cy="457200"/>
          </a:xfrm>
          <a:prstGeom prst="rect">
            <a:avLst/>
          </a:prstGeom>
          <a:noFill/>
          <a:ln/>
        </p:spPr>
        <p:txBody>
          <a:bodyPr wrap="square" lIns="0" tIns="0" rIns="0" bIns="0" rtlCol="0" anchor="t"/>
          <a:lstStyle/>
          <a:p>
            <a:pPr indent="0" marL="0">
              <a:buNone/>
            </a:pPr>
            <a:r>
              <a:rPr lang="en-US" sz="2000" b="1" dirty="0">
                <a:solidFill>
                  <a:schemeClr val="tx2"/>
                </a:solidFill>
              </a:rPr>
              <a:t>1. Upload</a:t>
            </a:r>
            <a:endParaRPr lang="en-US" sz="2000" dirty="0"/>
          </a:p>
        </p:txBody>
      </p:sp>
      <p:sp>
        <p:nvSpPr>
          <p:cNvPr id="7" name="Text 4"/>
          <p:cNvSpPr txBox="1"/>
          <p:nvPr/>
        </p:nvSpPr>
        <p:spPr>
          <a:xfrm>
            <a:off x="868680" y="3200400"/>
            <a:ext cx="2103120" cy="1097280"/>
          </a:xfrm>
          <a:prstGeom prst="rect">
            <a:avLst/>
          </a:prstGeom>
          <a:noFill/>
          <a:ln/>
        </p:spPr>
        <p:txBody>
          <a:bodyPr wrap="square" lIns="0" tIns="0" rIns="0" bIns="0" rtlCol="0" anchor="t"/>
          <a:lstStyle/>
          <a:p>
            <a:pPr indent="0" marL="0">
              <a:buNone/>
            </a:pPr>
            <a:r>
              <a:rPr lang="en-US" sz="1500" dirty="0">
                <a:solidFill>
                  <a:schemeClr val="tx1"/>
                </a:solidFill>
              </a:rPr>
              <a:t>Drop in the EMS workbook. Nothing is saved yet.</a:t>
            </a:r>
            <a:endParaRPr lang="en-US" sz="1500" dirty="0"/>
          </a:p>
        </p:txBody>
      </p:sp>
      <p:sp>
        <p:nvSpPr>
          <p:cNvPr id="8" name="Map columns card"/>
          <p:cNvSpPr/>
          <p:nvPr/>
        </p:nvSpPr>
        <p:spPr>
          <a:xfrm>
            <a:off x="3364992" y="1463040"/>
            <a:ext cx="2606040" cy="3017520"/>
          </a:xfrm>
          <a:prstGeom prst="roundRect">
            <a:avLst>
              <a:gd name="adj" fmla="val 4211"/>
            </a:avLst>
          </a:prstGeom>
          <a:solidFill>
            <a:schemeClr val="bg2"/>
          </a:solidFill>
          <a:ln w="12700">
            <a:solidFill>
              <a:schemeClr val="bg2"/>
            </a:solidFill>
            <a:prstDash val="solid"/>
          </a:ln>
        </p:spPr>
      </p:sp>
      <p:sp>
        <p:nvSpPr>
          <p:cNvPr id="9" name="Map columns circle"/>
          <p:cNvSpPr/>
          <p:nvPr/>
        </p:nvSpPr>
        <p:spPr>
          <a:xfrm>
            <a:off x="3685032" y="1783080"/>
            <a:ext cx="731520" cy="731520"/>
          </a:xfrm>
          <a:prstGeom prst="ellipse">
            <a:avLst/>
          </a:prstGeom>
          <a:solidFill>
            <a:schemeClr val="accent1"/>
          </a:solidFill>
          <a:ln w="12700">
            <a:solidFill>
              <a:schemeClr val="accent1"/>
            </a:solidFill>
            <a:prstDash val="solid"/>
          </a:ln>
        </p:spPr>
      </p:sp>
      <p:pic>
        <p:nvPicPr>
          <p:cNvPr id="10" name="Map columns" descr="preencoded.png">    </p:cNvPr>
          <p:cNvPicPr>
            <a:picLocks noChangeAspect="1"/>
          </p:cNvPicPr>
          <p:nvPr/>
        </p:nvPicPr>
        <p:blipFill>
          <a:blip r:embed="rId2"/>
          <a:stretch>
            <a:fillRect/>
          </a:stretch>
        </p:blipFill>
        <p:spPr>
          <a:xfrm>
            <a:off x="3845966" y="1944014"/>
            <a:ext cx="409651" cy="409651"/>
          </a:xfrm>
          <a:prstGeom prst="rect">
            <a:avLst/>
          </a:prstGeom>
        </p:spPr>
      </p:pic>
      <p:sp>
        <p:nvSpPr>
          <p:cNvPr id="11" name="Text 7"/>
          <p:cNvSpPr txBox="1"/>
          <p:nvPr/>
        </p:nvSpPr>
        <p:spPr>
          <a:xfrm>
            <a:off x="3685032" y="2697480"/>
            <a:ext cx="2103120" cy="457200"/>
          </a:xfrm>
          <a:prstGeom prst="rect">
            <a:avLst/>
          </a:prstGeom>
          <a:noFill/>
          <a:ln/>
        </p:spPr>
        <p:txBody>
          <a:bodyPr wrap="square" lIns="0" tIns="0" rIns="0" bIns="0" rtlCol="0" anchor="t"/>
          <a:lstStyle/>
          <a:p>
            <a:pPr indent="0" marL="0">
              <a:buNone/>
            </a:pPr>
            <a:r>
              <a:rPr lang="en-US" sz="2000" b="1" dirty="0">
                <a:solidFill>
                  <a:schemeClr val="tx2"/>
                </a:solidFill>
              </a:rPr>
              <a:t>2. Map columns</a:t>
            </a:r>
            <a:endParaRPr lang="en-US" sz="2000" dirty="0"/>
          </a:p>
        </p:txBody>
      </p:sp>
      <p:sp>
        <p:nvSpPr>
          <p:cNvPr id="12" name="Text 8"/>
          <p:cNvSpPr txBox="1"/>
          <p:nvPr/>
        </p:nvSpPr>
        <p:spPr>
          <a:xfrm>
            <a:off x="3685032" y="3200400"/>
            <a:ext cx="2103120" cy="1097280"/>
          </a:xfrm>
          <a:prstGeom prst="rect">
            <a:avLst/>
          </a:prstGeom>
          <a:noFill/>
          <a:ln/>
        </p:spPr>
        <p:txBody>
          <a:bodyPr wrap="square" lIns="0" tIns="0" rIns="0" bIns="0" rtlCol="0" anchor="t"/>
          <a:lstStyle/>
          <a:p>
            <a:pPr indent="0" marL="0">
              <a:buNone/>
            </a:pPr>
            <a:r>
              <a:rPr lang="en-US" sz="1500" dirty="0">
                <a:solidFill>
                  <a:schemeClr val="tx1"/>
                </a:solidFill>
              </a:rPr>
              <a:t>Matched automatically; just check them.</a:t>
            </a:r>
            <a:endParaRPr lang="en-US" sz="1500" dirty="0"/>
          </a:p>
        </p:txBody>
      </p:sp>
      <p:sp>
        <p:nvSpPr>
          <p:cNvPr id="13" name="Review card"/>
          <p:cNvSpPr/>
          <p:nvPr/>
        </p:nvSpPr>
        <p:spPr>
          <a:xfrm>
            <a:off x="6181344" y="1463040"/>
            <a:ext cx="2606040" cy="3017520"/>
          </a:xfrm>
          <a:prstGeom prst="roundRect">
            <a:avLst>
              <a:gd name="adj" fmla="val 4211"/>
            </a:avLst>
          </a:prstGeom>
          <a:solidFill>
            <a:schemeClr val="bg2"/>
          </a:solidFill>
          <a:ln w="12700">
            <a:solidFill>
              <a:schemeClr val="bg2"/>
            </a:solidFill>
            <a:prstDash val="solid"/>
          </a:ln>
        </p:spPr>
      </p:sp>
      <p:sp>
        <p:nvSpPr>
          <p:cNvPr id="14" name="Review circle"/>
          <p:cNvSpPr/>
          <p:nvPr/>
        </p:nvSpPr>
        <p:spPr>
          <a:xfrm>
            <a:off x="6501384" y="1783080"/>
            <a:ext cx="731520" cy="731520"/>
          </a:xfrm>
          <a:prstGeom prst="ellipse">
            <a:avLst/>
          </a:prstGeom>
          <a:solidFill>
            <a:schemeClr val="accent1"/>
          </a:solidFill>
          <a:ln w="12700">
            <a:solidFill>
              <a:schemeClr val="accent1"/>
            </a:solidFill>
            <a:prstDash val="solid"/>
          </a:ln>
        </p:spPr>
      </p:sp>
      <p:pic>
        <p:nvPicPr>
          <p:cNvPr id="15" name="Review" descr="preencoded.png">    </p:cNvPr>
          <p:cNvPicPr>
            <a:picLocks noChangeAspect="1"/>
          </p:cNvPicPr>
          <p:nvPr/>
        </p:nvPicPr>
        <p:blipFill>
          <a:blip r:embed="rId3"/>
          <a:stretch>
            <a:fillRect/>
          </a:stretch>
        </p:blipFill>
        <p:spPr>
          <a:xfrm>
            <a:off x="6662318" y="1944014"/>
            <a:ext cx="409651" cy="409651"/>
          </a:xfrm>
          <a:prstGeom prst="rect">
            <a:avLst/>
          </a:prstGeom>
        </p:spPr>
      </p:pic>
      <p:sp>
        <p:nvSpPr>
          <p:cNvPr id="16" name="Text 11"/>
          <p:cNvSpPr txBox="1"/>
          <p:nvPr/>
        </p:nvSpPr>
        <p:spPr>
          <a:xfrm>
            <a:off x="6501384" y="2697480"/>
            <a:ext cx="2103120" cy="457200"/>
          </a:xfrm>
          <a:prstGeom prst="rect">
            <a:avLst/>
          </a:prstGeom>
          <a:noFill/>
          <a:ln/>
        </p:spPr>
        <p:txBody>
          <a:bodyPr wrap="square" lIns="0" tIns="0" rIns="0" bIns="0" rtlCol="0" anchor="t"/>
          <a:lstStyle/>
          <a:p>
            <a:pPr indent="0" marL="0">
              <a:buNone/>
            </a:pPr>
            <a:r>
              <a:rPr lang="en-US" sz="2000" b="1" dirty="0">
                <a:solidFill>
                  <a:schemeClr val="tx2"/>
                </a:solidFill>
              </a:rPr>
              <a:t>3. Review</a:t>
            </a:r>
            <a:endParaRPr lang="en-US" sz="2000" dirty="0"/>
          </a:p>
        </p:txBody>
      </p:sp>
      <p:sp>
        <p:nvSpPr>
          <p:cNvPr id="17" name="Text 12"/>
          <p:cNvSpPr txBox="1"/>
          <p:nvPr/>
        </p:nvSpPr>
        <p:spPr>
          <a:xfrm>
            <a:off x="6501384" y="3200400"/>
            <a:ext cx="2103120" cy="1097280"/>
          </a:xfrm>
          <a:prstGeom prst="rect">
            <a:avLst/>
          </a:prstGeom>
          <a:noFill/>
          <a:ln/>
        </p:spPr>
        <p:txBody>
          <a:bodyPr wrap="square" lIns="0" tIns="0" rIns="0" bIns="0" rtlCol="0" anchor="t"/>
          <a:lstStyle/>
          <a:p>
            <a:pPr indent="0" marL="0">
              <a:buNone/>
            </a:pPr>
            <a:r>
              <a:rPr lang="en-US" sz="1500" dirty="0">
                <a:solidFill>
                  <a:schemeClr val="tx1"/>
                </a:solidFill>
              </a:rPr>
              <a:t>Fix flagged rows and create callers' logins.</a:t>
            </a:r>
            <a:endParaRPr lang="en-US" sz="1500" dirty="0"/>
          </a:p>
        </p:txBody>
      </p:sp>
      <p:sp>
        <p:nvSpPr>
          <p:cNvPr id="18" name="Import card"/>
          <p:cNvSpPr/>
          <p:nvPr/>
        </p:nvSpPr>
        <p:spPr>
          <a:xfrm>
            <a:off x="8997696" y="1463040"/>
            <a:ext cx="2606040" cy="3017520"/>
          </a:xfrm>
          <a:prstGeom prst="roundRect">
            <a:avLst>
              <a:gd name="adj" fmla="val 4211"/>
            </a:avLst>
          </a:prstGeom>
          <a:solidFill>
            <a:schemeClr val="bg2"/>
          </a:solidFill>
          <a:ln w="12700">
            <a:solidFill>
              <a:schemeClr val="bg2"/>
            </a:solidFill>
            <a:prstDash val="solid"/>
          </a:ln>
        </p:spPr>
      </p:sp>
      <p:sp>
        <p:nvSpPr>
          <p:cNvPr id="19" name="Import circle"/>
          <p:cNvSpPr/>
          <p:nvPr/>
        </p:nvSpPr>
        <p:spPr>
          <a:xfrm>
            <a:off x="9317736" y="1783080"/>
            <a:ext cx="731520" cy="731520"/>
          </a:xfrm>
          <a:prstGeom prst="ellipse">
            <a:avLst/>
          </a:prstGeom>
          <a:solidFill>
            <a:schemeClr val="accent1"/>
          </a:solidFill>
          <a:ln w="12700">
            <a:solidFill>
              <a:schemeClr val="accent1"/>
            </a:solidFill>
            <a:prstDash val="solid"/>
          </a:ln>
        </p:spPr>
      </p:sp>
      <p:pic>
        <p:nvPicPr>
          <p:cNvPr id="20" name="Import" descr="preencoded.png">    </p:cNvPr>
          <p:cNvPicPr>
            <a:picLocks noChangeAspect="1"/>
          </p:cNvPicPr>
          <p:nvPr/>
        </p:nvPicPr>
        <p:blipFill>
          <a:blip r:embed="rId4"/>
          <a:stretch>
            <a:fillRect/>
          </a:stretch>
        </p:blipFill>
        <p:spPr>
          <a:xfrm>
            <a:off x="9478670" y="1944014"/>
            <a:ext cx="409651" cy="409651"/>
          </a:xfrm>
          <a:prstGeom prst="rect">
            <a:avLst/>
          </a:prstGeom>
        </p:spPr>
      </p:pic>
      <p:sp>
        <p:nvSpPr>
          <p:cNvPr id="21" name="Text 15"/>
          <p:cNvSpPr txBox="1"/>
          <p:nvPr/>
        </p:nvSpPr>
        <p:spPr>
          <a:xfrm>
            <a:off x="9317736" y="2697480"/>
            <a:ext cx="2103120" cy="457200"/>
          </a:xfrm>
          <a:prstGeom prst="rect">
            <a:avLst/>
          </a:prstGeom>
          <a:noFill/>
          <a:ln/>
        </p:spPr>
        <p:txBody>
          <a:bodyPr wrap="square" lIns="0" tIns="0" rIns="0" bIns="0" rtlCol="0" anchor="t"/>
          <a:lstStyle/>
          <a:p>
            <a:pPr indent="0" marL="0">
              <a:buNone/>
            </a:pPr>
            <a:r>
              <a:rPr lang="en-US" sz="2000" b="1" dirty="0">
                <a:solidFill>
                  <a:schemeClr val="tx2"/>
                </a:solidFill>
              </a:rPr>
              <a:t>4. Import</a:t>
            </a:r>
            <a:endParaRPr lang="en-US" sz="2000" dirty="0"/>
          </a:p>
        </p:txBody>
      </p:sp>
      <p:sp>
        <p:nvSpPr>
          <p:cNvPr id="22" name="Text 16"/>
          <p:cNvSpPr txBox="1"/>
          <p:nvPr/>
        </p:nvSpPr>
        <p:spPr>
          <a:xfrm>
            <a:off x="9317736" y="3200400"/>
            <a:ext cx="2103120" cy="1097280"/>
          </a:xfrm>
          <a:prstGeom prst="rect">
            <a:avLst/>
          </a:prstGeom>
          <a:noFill/>
          <a:ln/>
        </p:spPr>
        <p:txBody>
          <a:bodyPr wrap="square" lIns="0" tIns="0" rIns="0" bIns="0" rtlCol="0" anchor="t"/>
          <a:lstStyle/>
          <a:p>
            <a:pPr indent="0" marL="0">
              <a:buNone/>
            </a:pPr>
            <a:r>
              <a:rPr lang="en-US" sz="1500" dirty="0">
                <a:solidFill>
                  <a:schemeClr val="tx1"/>
                </a:solidFill>
              </a:rPr>
              <a:t>Only now are Saints and callers saved.</a:t>
            </a:r>
            <a:endParaRPr lang="en-US" sz="1500" dirty="0"/>
          </a:p>
        </p:txBody>
      </p:sp>
      <p:sp>
        <p:nvSpPr>
          <p:cNvPr id="23" name="Text 17"/>
          <p:cNvSpPr txBox="1"/>
          <p:nvPr/>
        </p:nvSpPr>
        <p:spPr>
          <a:xfrm>
            <a:off x="548640" y="4709160"/>
            <a:ext cx="11064240" cy="118872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Columns used: </a:t>
            </a:r>
            <a:pPr indent="0" marL="0">
              <a:spcAft>
                <a:spcPts val="800"/>
              </a:spcAft>
              <a:buNone/>
            </a:pPr>
            <a:r>
              <a:rPr lang="en-US" sz="1600" dirty="0">
                <a:solidFill>
                  <a:schemeClr val="tx1"/>
                </a:solidFill>
              </a:rPr>
              <a:t>NAME, MOBILE NO, AREA, DATE and CALLING CO-ORDINATER (the caller), from the EMS STALL SEWA sheet.</a:t>
            </a:r>
            <a:endParaRPr lang="en-US" sz="1600" dirty="0"/>
          </a:p>
          <a:p>
            <a:pPr indent="0" marL="0">
              <a:spcAft>
                <a:spcPts val="800"/>
              </a:spcAft>
              <a:buNone/>
            </a:pPr>
            <a:r>
              <a:rPr lang="en-US" sz="1600" dirty="0">
                <a:solidFill>
                  <a:schemeClr val="tx1"/>
                </a:solidFill>
              </a:rPr>
              <a:t>Only current Saints and their callers are imported, not old weekly history. Importing the same file again never creates duplicates.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Reports you can trust</a:t>
            </a:r>
            <a:endParaRPr lang="en-US" sz="3600" dirty="0"/>
          </a:p>
        </p:txBody>
      </p:sp>
      <p:sp>
        <p:nvSpPr>
          <p:cNvPr id="3" name="reports screenshot frame"/>
          <p:cNvSpPr/>
          <p:nvPr/>
        </p:nvSpPr>
        <p:spPr>
          <a:xfrm>
            <a:off x="566928" y="1252728"/>
            <a:ext cx="7095744" cy="4105656"/>
          </a:xfrm>
          <a:prstGeom prst="roundRect">
            <a:avLst>
              <a:gd name="adj" fmla="val 1782"/>
            </a:avLst>
          </a:prstGeom>
          <a:solidFill>
            <a:schemeClr val="bg1"/>
          </a:solidFill>
          <a:ln w="9525">
            <a:solidFill>
              <a:srgbClr val="D5DBE3"/>
            </a:solidFill>
            <a:prstDash val="solid"/>
          </a:ln>
          <a:effectLst>
            <a:outerShdw sx="100000" sy="100000" kx="0" ky="0" algn="bl" rotWithShape="0" blurRad="127000" dist="38100" dir="5400000">
              <a:srgbClr val="0F172A">
                <a:alpha val="18000"/>
              </a:srgbClr>
            </a:outerShdw>
          </a:effectLst>
        </p:spPr>
      </p:sp>
      <p:pic>
        <p:nvPicPr>
          <p:cNvPr id="4" name="reports screenshot" descr="Monthly report with key numbers, completion bars and tables by congregation and caller">    </p:cNvPr>
          <p:cNvPicPr>
            <a:picLocks noChangeAspect="1"/>
          </p:cNvPicPr>
          <p:nvPr/>
        </p:nvPicPr>
        <p:blipFill>
          <a:blip r:embed="rId1"/>
          <a:stretch>
            <a:fillRect/>
          </a:stretch>
        </p:blipFill>
        <p:spPr>
          <a:xfrm>
            <a:off x="640080" y="1325880"/>
            <a:ext cx="6949440" cy="3959352"/>
          </a:xfrm>
          <a:prstGeom prst="rect">
            <a:avLst/>
          </a:prstGeom>
        </p:spPr>
      </p:pic>
      <p:sp>
        <p:nvSpPr>
          <p:cNvPr id="5" name="Text 2"/>
          <p:cNvSpPr txBox="1"/>
          <p:nvPr/>
        </p:nvSpPr>
        <p:spPr>
          <a:xfrm>
            <a:off x="8046720" y="1371600"/>
            <a:ext cx="3566160" cy="457200"/>
          </a:xfrm>
          <a:prstGeom prst="rect">
            <a:avLst/>
          </a:prstGeom>
          <a:noFill/>
          <a:ln/>
        </p:spPr>
        <p:txBody>
          <a:bodyPr wrap="square" lIns="0" tIns="0" rIns="0" bIns="0" rtlCol="0" anchor="t"/>
          <a:lstStyle/>
          <a:p>
            <a:pPr indent="0" marL="0">
              <a:buNone/>
            </a:pPr>
            <a:r>
              <a:rPr lang="en-US" sz="2200" b="1" dirty="0">
                <a:solidFill>
                  <a:schemeClr val="accent1"/>
                </a:solidFill>
              </a:rPr>
              <a:t>Completed</a:t>
            </a:r>
            <a:endParaRPr lang="en-US" sz="2200" dirty="0"/>
          </a:p>
        </p:txBody>
      </p:sp>
      <p:sp>
        <p:nvSpPr>
          <p:cNvPr id="6" name="Text 3"/>
          <p:cNvSpPr txBox="1"/>
          <p:nvPr/>
        </p:nvSpPr>
        <p:spPr>
          <a:xfrm>
            <a:off x="8046720" y="1828800"/>
            <a:ext cx="3566160" cy="594360"/>
          </a:xfrm>
          <a:prstGeom prst="rect">
            <a:avLst/>
          </a:prstGeom>
          <a:noFill/>
          <a:ln/>
        </p:spPr>
        <p:txBody>
          <a:bodyPr wrap="square" lIns="0" tIns="0" rIns="0" bIns="0" rtlCol="0" anchor="t"/>
          <a:lstStyle/>
          <a:p>
            <a:pPr indent="0" marL="0">
              <a:buNone/>
            </a:pPr>
            <a:r>
              <a:rPr lang="en-US" sz="1500" dirty="0">
                <a:solidFill>
                  <a:schemeClr val="tx1"/>
                </a:solidFill>
              </a:rPr>
              <a:t>at least one attempt, any result</a:t>
            </a:r>
            <a:endParaRPr lang="en-US" sz="1500" dirty="0"/>
          </a:p>
        </p:txBody>
      </p:sp>
      <p:sp>
        <p:nvSpPr>
          <p:cNvPr id="7" name="Text 4"/>
          <p:cNvSpPr txBox="1"/>
          <p:nvPr/>
        </p:nvSpPr>
        <p:spPr>
          <a:xfrm>
            <a:off x="8046720" y="2560320"/>
            <a:ext cx="3566160" cy="457200"/>
          </a:xfrm>
          <a:prstGeom prst="rect">
            <a:avLst/>
          </a:prstGeom>
          <a:noFill/>
          <a:ln/>
        </p:spPr>
        <p:txBody>
          <a:bodyPr wrap="square" lIns="0" tIns="0" rIns="0" bIns="0" rtlCol="0" anchor="t"/>
          <a:lstStyle/>
          <a:p>
            <a:pPr indent="0" marL="0">
              <a:buNone/>
            </a:pPr>
            <a:r>
              <a:rPr lang="en-US" sz="2200" b="1" dirty="0">
                <a:solidFill>
                  <a:schemeClr val="accent1"/>
                </a:solidFill>
              </a:rPr>
              <a:t>Will Try</a:t>
            </a:r>
            <a:endParaRPr lang="en-US" sz="2200" dirty="0"/>
          </a:p>
        </p:txBody>
      </p:sp>
      <p:sp>
        <p:nvSpPr>
          <p:cNvPr id="8" name="Text 5"/>
          <p:cNvSpPr txBox="1"/>
          <p:nvPr/>
        </p:nvSpPr>
        <p:spPr>
          <a:xfrm>
            <a:off x="8046720" y="3017520"/>
            <a:ext cx="3566160" cy="594360"/>
          </a:xfrm>
          <a:prstGeom prst="rect">
            <a:avLst/>
          </a:prstGeom>
          <a:noFill/>
          <a:ln/>
        </p:spPr>
        <p:txBody>
          <a:bodyPr wrap="square" lIns="0" tIns="0" rIns="0" bIns="0" rtlCol="0" anchor="t"/>
          <a:lstStyle/>
          <a:p>
            <a:pPr indent="0" marL="0">
              <a:buNone/>
            </a:pPr>
            <a:r>
              <a:rPr lang="en-US" sz="1500" dirty="0">
                <a:solidFill>
                  <a:schemeClr val="tx1"/>
                </a:solidFill>
              </a:rPr>
              <a:t>is never counted as Yes</a:t>
            </a:r>
            <a:endParaRPr lang="en-US" sz="1500" dirty="0"/>
          </a:p>
        </p:txBody>
      </p:sp>
      <p:sp>
        <p:nvSpPr>
          <p:cNvPr id="9" name="Text 6"/>
          <p:cNvSpPr txBox="1"/>
          <p:nvPr/>
        </p:nvSpPr>
        <p:spPr>
          <a:xfrm>
            <a:off x="8046720" y="3749040"/>
            <a:ext cx="3566160" cy="457200"/>
          </a:xfrm>
          <a:prstGeom prst="rect">
            <a:avLst/>
          </a:prstGeom>
          <a:noFill/>
          <a:ln/>
        </p:spPr>
        <p:txBody>
          <a:bodyPr wrap="square" lIns="0" tIns="0" rIns="0" bIns="0" rtlCol="0" anchor="t"/>
          <a:lstStyle/>
          <a:p>
            <a:pPr indent="0" marL="0">
              <a:buNone/>
            </a:pPr>
            <a:r>
              <a:rPr lang="en-US" sz="2200" b="1" dirty="0">
                <a:solidFill>
                  <a:schemeClr val="accent1"/>
                </a:solidFill>
              </a:rPr>
              <a:t>Always adds up</a:t>
            </a:r>
            <a:endParaRPr lang="en-US" sz="2200" dirty="0"/>
          </a:p>
        </p:txBody>
      </p:sp>
      <p:sp>
        <p:nvSpPr>
          <p:cNvPr id="10" name="Text 7"/>
          <p:cNvSpPr txBox="1"/>
          <p:nvPr/>
        </p:nvSpPr>
        <p:spPr>
          <a:xfrm>
            <a:off x="8046720" y="4206240"/>
            <a:ext cx="3566160" cy="594360"/>
          </a:xfrm>
          <a:prstGeom prst="rect">
            <a:avLst/>
          </a:prstGeom>
          <a:noFill/>
          <a:ln/>
        </p:spPr>
        <p:txBody>
          <a:bodyPr wrap="square" lIns="0" tIns="0" rIns="0" bIns="0" rtlCol="0" anchor="t"/>
          <a:lstStyle/>
          <a:p>
            <a:pPr indent="0" marL="0">
              <a:buNone/>
            </a:pPr>
            <a:r>
              <a:rPr lang="en-US" sz="1500" dirty="0">
                <a:solidFill>
                  <a:schemeClr val="tx1"/>
                </a:solidFill>
              </a:rPr>
              <a:t>Yes + Not Possible + Will Try + Unknown = Assigned</a:t>
            </a:r>
            <a:endParaRPr lang="en-US" sz="1500" dirty="0"/>
          </a:p>
        </p:txBody>
      </p:sp>
      <p:sp>
        <p:nvSpPr>
          <p:cNvPr id="11" name="Text 8"/>
          <p:cNvSpPr txBox="1"/>
          <p:nvPr/>
        </p:nvSpPr>
        <p:spPr>
          <a:xfrm>
            <a:off x="8046720" y="4937760"/>
            <a:ext cx="3566160" cy="914400"/>
          </a:xfrm>
          <a:prstGeom prst="rect">
            <a:avLst/>
          </a:prstGeom>
          <a:noFill/>
          <a:ln/>
        </p:spPr>
        <p:txBody>
          <a:bodyPr wrap="square" lIns="0" tIns="0" rIns="0" bIns="0" rtlCol="0" anchor="t"/>
          <a:lstStyle/>
          <a:p>
            <a:pPr indent="0" marL="0">
              <a:buNone/>
            </a:pPr>
            <a:r>
              <a:rPr lang="en-US" sz="1500" i="1" dirty="0">
                <a:solidFill>
                  <a:schemeClr val="tx2"/>
                </a:solidFill>
              </a:rPr>
              <a:t>Export to Excel or CSV. The audit log records every change: who, what and when.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1005840"/>
          </a:xfrm>
          <a:prstGeom prst="rect">
            <a:avLst/>
          </a:prstGeom>
          <a:noFill/>
          <a:ln/>
        </p:spPr>
        <p:txBody>
          <a:bodyPr wrap="square" lIns="0" tIns="0" rIns="0" bIns="0" rtlCol="0" anchor="b"/>
          <a:lstStyle/>
          <a:p>
            <a:pPr algn="l" indent="0" marL="0">
              <a:buNone/>
            </a:pPr>
            <a:r>
              <a:rPr lang="en-US" sz="4800" b="1" dirty="0">
                <a:solidFill>
                  <a:schemeClr val="bg1"/>
                </a:solidFill>
              </a:rPr>
              <a:t>Getting started</a:t>
            </a:r>
            <a:endParaRPr lang="en-US" sz="4800" dirty="0"/>
          </a:p>
        </p:txBody>
      </p:sp>
      <p:sp>
        <p:nvSpPr>
          <p:cNvPr id="3" name="Text 1"/>
          <p:cNvSpPr txBox="1"/>
          <p:nvPr/>
        </p:nvSpPr>
        <p:spPr>
          <a:xfrm>
            <a:off x="731520" y="2240280"/>
            <a:ext cx="10698480" cy="548640"/>
          </a:xfrm>
          <a:prstGeom prst="rect">
            <a:avLst/>
          </a:prstGeom>
          <a:noFill/>
          <a:ln/>
        </p:spPr>
        <p:txBody>
          <a:bodyPr wrap="square" lIns="0" tIns="0" rIns="0" bIns="0" rtlCol="0" anchor="t"/>
          <a:lstStyle/>
          <a:p>
            <a:pPr indent="0" marL="0">
              <a:buNone/>
            </a:pPr>
            <a:r>
              <a:rPr lang="en-US" sz="2200" dirty="0">
                <a:solidFill>
                  <a:schemeClr val="accent2"/>
                </a:solidFill>
              </a:rPr>
              <a:t>Four steps from today to our first Saturday on EMS Seva</a:t>
            </a:r>
            <a:endParaRPr lang="en-US" sz="2200" dirty="0"/>
          </a:p>
        </p:txBody>
      </p:sp>
      <p:sp>
        <p:nvSpPr>
          <p:cNvPr id="4" name="start 1 card"/>
          <p:cNvSpPr/>
          <p:nvPr/>
        </p:nvSpPr>
        <p:spPr>
          <a:xfrm>
            <a:off x="731520" y="3200400"/>
            <a:ext cx="2514600" cy="2377440"/>
          </a:xfrm>
          <a:prstGeom prst="roundRect">
            <a:avLst>
              <a:gd name="adj" fmla="val 4615"/>
            </a:avLst>
          </a:prstGeom>
          <a:solidFill>
            <a:srgbClr val="16263D"/>
          </a:solidFill>
          <a:ln w="9525">
            <a:solidFill>
              <a:srgbClr val="2A3B55"/>
            </a:solidFill>
            <a:prstDash val="solid"/>
          </a:ln>
        </p:spPr>
      </p:sp>
      <p:sp>
        <p:nvSpPr>
          <p:cNvPr id="5" name="Text 3"/>
          <p:cNvSpPr txBox="1"/>
          <p:nvPr/>
        </p:nvSpPr>
        <p:spPr>
          <a:xfrm>
            <a:off x="1005840" y="3429000"/>
            <a:ext cx="731520" cy="548640"/>
          </a:xfrm>
          <a:prstGeom prst="rect">
            <a:avLst/>
          </a:prstGeom>
          <a:noFill/>
          <a:ln/>
        </p:spPr>
        <p:txBody>
          <a:bodyPr wrap="square" lIns="0" tIns="0" rIns="0" bIns="0" rtlCol="0" anchor="t"/>
          <a:lstStyle/>
          <a:p>
            <a:pPr indent="0" marL="0">
              <a:buNone/>
            </a:pPr>
            <a:r>
              <a:rPr lang="en-US" sz="3200" b="1" dirty="0">
                <a:solidFill>
                  <a:schemeClr val="accent2"/>
                </a:solidFill>
              </a:rPr>
              <a:t>1</a:t>
            </a:r>
            <a:endParaRPr lang="en-US" sz="3200" dirty="0"/>
          </a:p>
        </p:txBody>
      </p:sp>
      <p:sp>
        <p:nvSpPr>
          <p:cNvPr id="6" name="Text 4"/>
          <p:cNvSpPr txBox="1"/>
          <p:nvPr/>
        </p:nvSpPr>
        <p:spPr>
          <a:xfrm>
            <a:off x="1005840" y="4023360"/>
            <a:ext cx="2011680" cy="411480"/>
          </a:xfrm>
          <a:prstGeom prst="rect">
            <a:avLst/>
          </a:prstGeom>
          <a:noFill/>
          <a:ln/>
        </p:spPr>
        <p:txBody>
          <a:bodyPr wrap="square" lIns="0" tIns="0" rIns="0" bIns="0" rtlCol="0" anchor="t"/>
          <a:lstStyle/>
          <a:p>
            <a:pPr indent="0" marL="0">
              <a:buNone/>
            </a:pPr>
            <a:r>
              <a:rPr lang="en-US" sz="2000" b="1" dirty="0">
                <a:solidFill>
                  <a:schemeClr val="bg1"/>
                </a:solidFill>
              </a:rPr>
              <a:t>Set up</a:t>
            </a:r>
            <a:endParaRPr lang="en-US" sz="2000" dirty="0"/>
          </a:p>
        </p:txBody>
      </p:sp>
      <p:sp>
        <p:nvSpPr>
          <p:cNvPr id="7" name="Text 5"/>
          <p:cNvSpPr txBox="1"/>
          <p:nvPr/>
        </p:nvSpPr>
        <p:spPr>
          <a:xfrm>
            <a:off x="1005840" y="4480560"/>
            <a:ext cx="2011680" cy="960120"/>
          </a:xfrm>
          <a:prstGeom prst="rect">
            <a:avLst/>
          </a:prstGeom>
          <a:noFill/>
          <a:ln/>
        </p:spPr>
        <p:txBody>
          <a:bodyPr wrap="square" lIns="0" tIns="0" rIns="0" bIns="0" rtlCol="0" anchor="t"/>
          <a:lstStyle/>
          <a:p>
            <a:pPr indent="0" marL="0">
              <a:buNone/>
            </a:pPr>
            <a:r>
              <a:rPr lang="en-US" sz="1500" dirty="0">
                <a:solidFill>
                  <a:srgbClr val="C9D2E0"/>
                </a:solidFill>
              </a:rPr>
              <a:t>The administrator sets up the app and the coordinators' logins</a:t>
            </a:r>
            <a:endParaRPr lang="en-US" sz="1500" dirty="0"/>
          </a:p>
        </p:txBody>
      </p:sp>
      <p:sp>
        <p:nvSpPr>
          <p:cNvPr id="8" name="start 2 card"/>
          <p:cNvSpPr/>
          <p:nvPr/>
        </p:nvSpPr>
        <p:spPr>
          <a:xfrm>
            <a:off x="3474720" y="3200400"/>
            <a:ext cx="2514600" cy="2377440"/>
          </a:xfrm>
          <a:prstGeom prst="roundRect">
            <a:avLst>
              <a:gd name="adj" fmla="val 4615"/>
            </a:avLst>
          </a:prstGeom>
          <a:solidFill>
            <a:srgbClr val="16263D"/>
          </a:solidFill>
          <a:ln w="9525">
            <a:solidFill>
              <a:srgbClr val="2A3B55"/>
            </a:solidFill>
            <a:prstDash val="solid"/>
          </a:ln>
        </p:spPr>
      </p:sp>
      <p:sp>
        <p:nvSpPr>
          <p:cNvPr id="9" name="Text 7"/>
          <p:cNvSpPr txBox="1"/>
          <p:nvPr/>
        </p:nvSpPr>
        <p:spPr>
          <a:xfrm>
            <a:off x="3749040" y="3429000"/>
            <a:ext cx="731520" cy="548640"/>
          </a:xfrm>
          <a:prstGeom prst="rect">
            <a:avLst/>
          </a:prstGeom>
          <a:noFill/>
          <a:ln/>
        </p:spPr>
        <p:txBody>
          <a:bodyPr wrap="square" lIns="0" tIns="0" rIns="0" bIns="0" rtlCol="0" anchor="t"/>
          <a:lstStyle/>
          <a:p>
            <a:pPr indent="0" marL="0">
              <a:buNone/>
            </a:pPr>
            <a:r>
              <a:rPr lang="en-US" sz="3200" b="1" dirty="0">
                <a:solidFill>
                  <a:schemeClr val="accent2"/>
                </a:solidFill>
              </a:rPr>
              <a:t>2</a:t>
            </a:r>
            <a:endParaRPr lang="en-US" sz="3200" dirty="0"/>
          </a:p>
        </p:txBody>
      </p:sp>
      <p:sp>
        <p:nvSpPr>
          <p:cNvPr id="10" name="Text 8"/>
          <p:cNvSpPr txBox="1"/>
          <p:nvPr/>
        </p:nvSpPr>
        <p:spPr>
          <a:xfrm>
            <a:off x="3749040" y="4023360"/>
            <a:ext cx="2011680" cy="411480"/>
          </a:xfrm>
          <a:prstGeom prst="rect">
            <a:avLst/>
          </a:prstGeom>
          <a:noFill/>
          <a:ln/>
        </p:spPr>
        <p:txBody>
          <a:bodyPr wrap="square" lIns="0" tIns="0" rIns="0" bIns="0" rtlCol="0" anchor="t"/>
          <a:lstStyle/>
          <a:p>
            <a:pPr indent="0" marL="0">
              <a:buNone/>
            </a:pPr>
            <a:r>
              <a:rPr lang="en-US" sz="2000" b="1" dirty="0">
                <a:solidFill>
                  <a:schemeClr val="bg1"/>
                </a:solidFill>
              </a:rPr>
              <a:t>Import</a:t>
            </a:r>
            <a:endParaRPr lang="en-US" sz="2000" dirty="0"/>
          </a:p>
        </p:txBody>
      </p:sp>
      <p:sp>
        <p:nvSpPr>
          <p:cNvPr id="11" name="Text 9"/>
          <p:cNvSpPr txBox="1"/>
          <p:nvPr/>
        </p:nvSpPr>
        <p:spPr>
          <a:xfrm>
            <a:off x="3749040" y="4480560"/>
            <a:ext cx="2011680" cy="960120"/>
          </a:xfrm>
          <a:prstGeom prst="rect">
            <a:avLst/>
          </a:prstGeom>
          <a:noFill/>
          <a:ln/>
        </p:spPr>
        <p:txBody>
          <a:bodyPr wrap="square" lIns="0" tIns="0" rIns="0" bIns="0" rtlCol="0" anchor="t"/>
          <a:lstStyle/>
          <a:p>
            <a:pPr indent="0" marL="0">
              <a:buNone/>
            </a:pPr>
            <a:r>
              <a:rPr lang="en-US" sz="1500" dirty="0">
                <a:solidFill>
                  <a:srgbClr val="C9D2E0"/>
                </a:solidFill>
              </a:rPr>
              <a:t>A coordinator imports the workbook and creates the callers' logins</a:t>
            </a:r>
            <a:endParaRPr lang="en-US" sz="1500" dirty="0"/>
          </a:p>
        </p:txBody>
      </p:sp>
      <p:sp>
        <p:nvSpPr>
          <p:cNvPr id="12" name="start 3 card"/>
          <p:cNvSpPr/>
          <p:nvPr/>
        </p:nvSpPr>
        <p:spPr>
          <a:xfrm>
            <a:off x="6217920" y="3200400"/>
            <a:ext cx="2514600" cy="2377440"/>
          </a:xfrm>
          <a:prstGeom prst="roundRect">
            <a:avLst>
              <a:gd name="adj" fmla="val 4615"/>
            </a:avLst>
          </a:prstGeom>
          <a:solidFill>
            <a:srgbClr val="16263D"/>
          </a:solidFill>
          <a:ln w="9525">
            <a:solidFill>
              <a:srgbClr val="2A3B55"/>
            </a:solidFill>
            <a:prstDash val="solid"/>
          </a:ln>
        </p:spPr>
      </p:sp>
      <p:sp>
        <p:nvSpPr>
          <p:cNvPr id="13" name="Text 11"/>
          <p:cNvSpPr txBox="1"/>
          <p:nvPr/>
        </p:nvSpPr>
        <p:spPr>
          <a:xfrm>
            <a:off x="6492240" y="3429000"/>
            <a:ext cx="731520" cy="548640"/>
          </a:xfrm>
          <a:prstGeom prst="rect">
            <a:avLst/>
          </a:prstGeom>
          <a:noFill/>
          <a:ln/>
        </p:spPr>
        <p:txBody>
          <a:bodyPr wrap="square" lIns="0" tIns="0" rIns="0" bIns="0" rtlCol="0" anchor="t"/>
          <a:lstStyle/>
          <a:p>
            <a:pPr indent="0" marL="0">
              <a:buNone/>
            </a:pPr>
            <a:r>
              <a:rPr lang="en-US" sz="3200" b="1" dirty="0">
                <a:solidFill>
                  <a:schemeClr val="accent2"/>
                </a:solidFill>
              </a:rPr>
              <a:t>3</a:t>
            </a:r>
            <a:endParaRPr lang="en-US" sz="3200" dirty="0"/>
          </a:p>
        </p:txBody>
      </p:sp>
      <p:sp>
        <p:nvSpPr>
          <p:cNvPr id="14" name="Text 12"/>
          <p:cNvSpPr txBox="1"/>
          <p:nvPr/>
        </p:nvSpPr>
        <p:spPr>
          <a:xfrm>
            <a:off x="6492240" y="4023360"/>
            <a:ext cx="2011680" cy="411480"/>
          </a:xfrm>
          <a:prstGeom prst="rect">
            <a:avLst/>
          </a:prstGeom>
          <a:noFill/>
          <a:ln/>
        </p:spPr>
        <p:txBody>
          <a:bodyPr wrap="square" lIns="0" tIns="0" rIns="0" bIns="0" rtlCol="0" anchor="t"/>
          <a:lstStyle/>
          <a:p>
            <a:pPr indent="0" marL="0">
              <a:buNone/>
            </a:pPr>
            <a:r>
              <a:rPr lang="en-US" sz="2000" b="1" dirty="0">
                <a:solidFill>
                  <a:schemeClr val="bg1"/>
                </a:solidFill>
              </a:rPr>
              <a:t>Share</a:t>
            </a:r>
            <a:endParaRPr lang="en-US" sz="2000" dirty="0"/>
          </a:p>
        </p:txBody>
      </p:sp>
      <p:sp>
        <p:nvSpPr>
          <p:cNvPr id="15" name="Text 13"/>
          <p:cNvSpPr txBox="1"/>
          <p:nvPr/>
        </p:nvSpPr>
        <p:spPr>
          <a:xfrm>
            <a:off x="6492240" y="4480560"/>
            <a:ext cx="2011680" cy="960120"/>
          </a:xfrm>
          <a:prstGeom prst="rect">
            <a:avLst/>
          </a:prstGeom>
          <a:noFill/>
          <a:ln/>
        </p:spPr>
        <p:txBody>
          <a:bodyPr wrap="square" lIns="0" tIns="0" rIns="0" bIns="0" rtlCol="0" anchor="t"/>
          <a:lstStyle/>
          <a:p>
            <a:pPr indent="0" marL="0">
              <a:buNone/>
            </a:pPr>
            <a:r>
              <a:rPr lang="en-US" sz="1500" dirty="0">
                <a:solidFill>
                  <a:srgbClr val="C9D2E0"/>
                </a:solidFill>
              </a:rPr>
              <a:t>Each caller receives their login privately</a:t>
            </a:r>
            <a:endParaRPr lang="en-US" sz="1500" dirty="0"/>
          </a:p>
        </p:txBody>
      </p:sp>
      <p:sp>
        <p:nvSpPr>
          <p:cNvPr id="16" name="start 4 card"/>
          <p:cNvSpPr/>
          <p:nvPr/>
        </p:nvSpPr>
        <p:spPr>
          <a:xfrm>
            <a:off x="8961120" y="3200400"/>
            <a:ext cx="2514600" cy="2377440"/>
          </a:xfrm>
          <a:prstGeom prst="roundRect">
            <a:avLst>
              <a:gd name="adj" fmla="val 4615"/>
            </a:avLst>
          </a:prstGeom>
          <a:solidFill>
            <a:srgbClr val="16263D"/>
          </a:solidFill>
          <a:ln w="9525">
            <a:solidFill>
              <a:srgbClr val="2A3B55"/>
            </a:solidFill>
            <a:prstDash val="solid"/>
          </a:ln>
        </p:spPr>
      </p:sp>
      <p:sp>
        <p:nvSpPr>
          <p:cNvPr id="17" name="Text 15"/>
          <p:cNvSpPr txBox="1"/>
          <p:nvPr/>
        </p:nvSpPr>
        <p:spPr>
          <a:xfrm>
            <a:off x="9235440" y="3429000"/>
            <a:ext cx="731520" cy="548640"/>
          </a:xfrm>
          <a:prstGeom prst="rect">
            <a:avLst/>
          </a:prstGeom>
          <a:noFill/>
          <a:ln/>
        </p:spPr>
        <p:txBody>
          <a:bodyPr wrap="square" lIns="0" tIns="0" rIns="0" bIns="0" rtlCol="0" anchor="t"/>
          <a:lstStyle/>
          <a:p>
            <a:pPr indent="0" marL="0">
              <a:buNone/>
            </a:pPr>
            <a:r>
              <a:rPr lang="en-US" sz="3200" b="1" dirty="0">
                <a:solidFill>
                  <a:schemeClr val="accent2"/>
                </a:solidFill>
              </a:rPr>
              <a:t>4</a:t>
            </a:r>
            <a:endParaRPr lang="en-US" sz="3200" dirty="0"/>
          </a:p>
        </p:txBody>
      </p:sp>
      <p:sp>
        <p:nvSpPr>
          <p:cNvPr id="18" name="Text 16"/>
          <p:cNvSpPr txBox="1"/>
          <p:nvPr/>
        </p:nvSpPr>
        <p:spPr>
          <a:xfrm>
            <a:off x="9235440" y="4023360"/>
            <a:ext cx="2011680" cy="411480"/>
          </a:xfrm>
          <a:prstGeom prst="rect">
            <a:avLst/>
          </a:prstGeom>
          <a:noFill/>
          <a:ln/>
        </p:spPr>
        <p:txBody>
          <a:bodyPr wrap="square" lIns="0" tIns="0" rIns="0" bIns="0" rtlCol="0" anchor="t"/>
          <a:lstStyle/>
          <a:p>
            <a:pPr indent="0" marL="0">
              <a:buNone/>
            </a:pPr>
            <a:r>
              <a:rPr lang="en-US" sz="2000" b="1" dirty="0">
                <a:solidFill>
                  <a:schemeClr val="bg1"/>
                </a:solidFill>
              </a:rPr>
              <a:t>Saturday</a:t>
            </a:r>
            <a:endParaRPr lang="en-US" sz="2000" dirty="0"/>
          </a:p>
        </p:txBody>
      </p:sp>
      <p:sp>
        <p:nvSpPr>
          <p:cNvPr id="19" name="Text 17"/>
          <p:cNvSpPr txBox="1"/>
          <p:nvPr/>
        </p:nvSpPr>
        <p:spPr>
          <a:xfrm>
            <a:off x="9235440" y="4480560"/>
            <a:ext cx="2011680" cy="960120"/>
          </a:xfrm>
          <a:prstGeom prst="rect">
            <a:avLst/>
          </a:prstGeom>
          <a:noFill/>
          <a:ln/>
        </p:spPr>
        <p:txBody>
          <a:bodyPr wrap="square" lIns="0" tIns="0" rIns="0" bIns="0" rtlCol="0" anchor="t"/>
          <a:lstStyle/>
          <a:p>
            <a:pPr indent="0" marL="0">
              <a:buNone/>
            </a:pPr>
            <a:r>
              <a:rPr lang="en-US" sz="1500" dirty="0">
                <a:solidFill>
                  <a:srgbClr val="C9D2E0"/>
                </a:solidFill>
              </a:rPr>
              <a:t>Start calling, share the reminder, and call</a:t>
            </a:r>
            <a:endParaRPr lang="en-US" sz="1500" dirty="0"/>
          </a:p>
        </p:txBody>
      </p:sp>
      <p:sp>
        <p:nvSpPr>
          <p:cNvPr id="20" name="Text 18"/>
          <p:cNvSpPr txBox="1"/>
          <p:nvPr/>
        </p:nvSpPr>
        <p:spPr>
          <a:xfrm>
            <a:off x="731520" y="6172200"/>
            <a:ext cx="4572000" cy="365760"/>
          </a:xfrm>
          <a:prstGeom prst="rect">
            <a:avLst/>
          </a:prstGeom>
          <a:noFill/>
          <a:ln/>
        </p:spPr>
        <p:txBody>
          <a:bodyPr wrap="square" lIns="0" tIns="0" rIns="0" bIns="0" rtlCol="0" anchor="t"/>
          <a:lstStyle/>
          <a:p>
            <a:pPr indent="0" marL="0">
              <a:buNone/>
            </a:pPr>
            <a:r>
              <a:rPr lang="en-US" sz="1600" i="1" dirty="0">
                <a:solidFill>
                  <a:schemeClr val="accent2"/>
                </a:solidFill>
              </a:rPr>
              <a:t>Questions?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MS Seva">
  <a:themeElements>
    <a:clrScheme name="EMS Seva">
      <a:dk1>
        <a:srgbClr val="0F172A"/>
      </a:dk1>
      <a:lt1>
        <a:srgbClr val="FFFFFF"/>
      </a:lt1>
      <a:dk2>
        <a:srgbClr val="0F1B2D"/>
      </a:dk2>
      <a:lt2>
        <a:srgbClr val="F1F5F4"/>
      </a:lt2>
      <a:accent1>
        <a:srgbClr val="0F766E"/>
      </a:accent1>
      <a:accent2>
        <a:srgbClr val="2DD4BF"/>
      </a:accent2>
      <a:accent3>
        <a:srgbClr val="15803D"/>
      </a:accent3>
      <a:accent4>
        <a:srgbClr val="B91C1C"/>
      </a:accent4>
      <a:accent5>
        <a:srgbClr val="1D4ED8"/>
      </a:accent5>
      <a:accent6>
        <a:srgbClr val="64748B"/>
      </a:accent6>
      <a:hlink>
        <a:srgbClr val="0F766E"/>
      </a:hlink>
      <a:folHlink>
        <a:srgbClr val="0B5F59"/>
      </a:folHlink>
    </a:clrScheme>
    <a:fontScheme name="EMS Sev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EMS Seva: Calling Seva, made simple</dc:title>
  <dc:subject>PptxGenJS Presentation</dc:subject>
  <dc:creator>EMS Seva</dc:creator>
  <cp:lastModifiedBy>EMS Seva</cp:lastModifiedBy>
  <cp:revision>1</cp:revision>
  <dcterms:created xsi:type="dcterms:W3CDTF">2026-10-31T07:46:30Z</dcterms:created>
  <dcterms:modified xsi:type="dcterms:W3CDTF">2026-10-31T07:46:30Z</dcterms:modified>
</cp:coreProperties>
</file>